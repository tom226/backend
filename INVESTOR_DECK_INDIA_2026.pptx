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F25"/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-2743200"/>
            <a:ext cx="7315200" cy="7315200"/>
          </a:xfrm>
          <a:prstGeom prst="ellipse">
            <a:avLst/>
          </a:prstGeom>
          <a:solidFill>
            <a:srgbClr val="1C6B44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-3657600"/>
            <a:ext cx="8229600" cy="8229600"/>
          </a:xfrm>
          <a:prstGeom prst="ellipse">
            <a:avLst/>
          </a:prstGeom>
          <a:solidFill>
            <a:srgbClr val="B1F24B">
              <a:alpha val="7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0" y="3657600"/>
            <a:ext cx="6400800" cy="6400800"/>
          </a:xfrm>
          <a:prstGeom prst="ellipse">
            <a:avLst/>
          </a:prstGeom>
          <a:solidFill>
            <a:srgbClr val="F6AD37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21741" y="2026407"/>
            <a:ext cx="90702" cy="90702"/>
          </a:xfrm>
          <a:prstGeom prst="ellipse">
            <a:avLst/>
          </a:prstGeom>
          <a:solidFill>
            <a:srgbClr val="B1F24B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624654" y="3820527"/>
            <a:ext cx="70318" cy="70318"/>
          </a:xfrm>
          <a:prstGeom prst="ellipse">
            <a:avLst/>
          </a:prstGeom>
          <a:solidFill>
            <a:srgbClr val="B1F24B">
              <a:alpha val="23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912426" y="5281881"/>
            <a:ext cx="95991" cy="95991"/>
          </a:xfrm>
          <a:prstGeom prst="ellipse">
            <a:avLst/>
          </a:prstGeom>
          <a:solidFill>
            <a:srgbClr val="B1F24B">
              <a:alpha val="21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75127" y="3671587"/>
            <a:ext cx="128321" cy="128321"/>
          </a:xfrm>
          <a:prstGeom prst="ellipse">
            <a:avLst/>
          </a:prstGeom>
          <a:solidFill>
            <a:srgbClr val="B1F24B">
              <a:alpha val="1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037359" y="4114513"/>
            <a:ext cx="151786" cy="151786"/>
          </a:xfrm>
          <a:prstGeom prst="ellipse">
            <a:avLst/>
          </a:prstGeom>
          <a:solidFill>
            <a:srgbClr val="B1F24B">
              <a:alpha val="17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18251" y="1112437"/>
            <a:ext cx="75631" cy="75631"/>
          </a:xfrm>
          <a:prstGeom prst="ellipse">
            <a:avLst/>
          </a:prstGeom>
          <a:solidFill>
            <a:srgbClr val="B1F24B">
              <a:alpha val="14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51097" y="3254011"/>
            <a:ext cx="65263" cy="65263"/>
          </a:xfrm>
          <a:prstGeom prst="ellipse">
            <a:avLst/>
          </a:prstGeom>
          <a:solidFill>
            <a:srgbClr val="B1F24B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731879" y="1781440"/>
            <a:ext cx="125696" cy="125696"/>
          </a:xfrm>
          <a:prstGeom prst="ellipse">
            <a:avLst/>
          </a:prstGeom>
          <a:solidFill>
            <a:srgbClr val="B1F24B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725074" y="5246459"/>
            <a:ext cx="137787" cy="137787"/>
          </a:xfrm>
          <a:prstGeom prst="ellipse">
            <a:avLst/>
          </a:prstGeom>
          <a:solidFill>
            <a:srgbClr val="B1F24B">
              <a:alpha val="2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3832" y="5562275"/>
            <a:ext cx="137804" cy="137804"/>
          </a:xfrm>
          <a:prstGeom prst="ellipse">
            <a:avLst/>
          </a:prstGeom>
          <a:solidFill>
            <a:srgbClr val="B1F24B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408012" y="1953913"/>
            <a:ext cx="155906" cy="155906"/>
          </a:xfrm>
          <a:prstGeom prst="ellipse">
            <a:avLst/>
          </a:prstGeom>
          <a:solidFill>
            <a:srgbClr val="B1F24B">
              <a:alpha val="2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95234" y="2821188"/>
            <a:ext cx="146868" cy="146868"/>
          </a:xfrm>
          <a:prstGeom prst="ellipse">
            <a:avLst/>
          </a:prstGeom>
          <a:solidFill>
            <a:srgbClr val="B1F24B">
              <a:alpha val="1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1F24B"/>
          </a:solidFill>
          <a:ln/>
        </p:spPr>
      </p:sp>
      <p:sp>
        <p:nvSpPr>
          <p:cNvPr id="19" name="Shape 17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F6AD37">
              <a:alpha val="5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 rot="-1800000">
            <a:off x="-914400" y="1828800"/>
            <a:ext cx="4572000" cy="7315200"/>
          </a:xfrm>
          <a:prstGeom prst="ellipse">
            <a:avLst/>
          </a:prstGeom>
          <a:solidFill>
            <a:srgbClr val="1C6B44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rot="1200000">
            <a:off x="8229600" y="-914400"/>
            <a:ext cx="5486400" cy="9144000"/>
          </a:xfrm>
          <a:prstGeom prst="ellipse">
            <a:avLst/>
          </a:prstGeom>
          <a:solidFill>
            <a:srgbClr val="B1F24B">
              <a:alpha val="12000"/>
            </a:srgbClr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22" name="Image 0" descr="E:\VS Code Projects\Website Nursery green\Image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457200"/>
            <a:ext cx="1097280" cy="109728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685800" y="18288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NURSERY GREEN</a:t>
            </a:r>
            <a:endParaRPr lang="en-US" sz="5200" dirty="0"/>
          </a:p>
        </p:txBody>
      </p:sp>
      <p:sp>
        <p:nvSpPr>
          <p:cNvPr id="24" name="Shape 21"/>
          <p:cNvSpPr/>
          <p:nvPr/>
        </p:nvSpPr>
        <p:spPr>
          <a:xfrm>
            <a:off x="685800" y="2834640"/>
            <a:ext cx="3200400" cy="54864"/>
          </a:xfrm>
          <a:prstGeom prst="rect">
            <a:avLst/>
          </a:prstGeom>
          <a:solidFill>
            <a:srgbClr val="B1F2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85800" y="30632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B1F2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India's First Integrated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B1F2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Plant Health + Commerce Platform</a:t>
            </a:r>
            <a:endParaRPr lang="en-US" sz="2200" dirty="0"/>
          </a:p>
        </p:txBody>
      </p:sp>
      <p:sp>
        <p:nvSpPr>
          <p:cNvPr id="26" name="Shape 23"/>
          <p:cNvSpPr/>
          <p:nvPr/>
        </p:nvSpPr>
        <p:spPr>
          <a:xfrm>
            <a:off x="685800" y="4389120"/>
            <a:ext cx="1737360" cy="1737360"/>
          </a:xfrm>
          <a:prstGeom prst="roundRect">
            <a:avLst>
              <a:gd name="adj" fmla="val 10526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27" name="Image 1" descr="E:\VS Code Projects\Website Nursery green\Images\Plant Booster Spray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68680" y="4526280"/>
            <a:ext cx="1371600" cy="1463040"/>
          </a:xfrm>
          <a:prstGeom prst="rect">
            <a:avLst/>
          </a:prstGeom>
        </p:spPr>
      </p:pic>
      <p:sp>
        <p:nvSpPr>
          <p:cNvPr id="28" name="Shape 24"/>
          <p:cNvSpPr/>
          <p:nvPr/>
        </p:nvSpPr>
        <p:spPr>
          <a:xfrm>
            <a:off x="2697480" y="4389120"/>
            <a:ext cx="1737360" cy="1737360"/>
          </a:xfrm>
          <a:prstGeom prst="roundRect">
            <a:avLst>
              <a:gd name="adj" fmla="val 10526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29" name="Image 2" descr="E:\VS Code Projects\Website Nursery green\Images\Neem Oil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2880360" y="4526280"/>
            <a:ext cx="1371600" cy="1463040"/>
          </a:xfrm>
          <a:prstGeom prst="rect">
            <a:avLst/>
          </a:prstGeom>
        </p:spPr>
      </p:pic>
      <p:sp>
        <p:nvSpPr>
          <p:cNvPr id="30" name="Shape 25"/>
          <p:cNvSpPr/>
          <p:nvPr/>
        </p:nvSpPr>
        <p:spPr>
          <a:xfrm>
            <a:off x="4709160" y="4389120"/>
            <a:ext cx="1737360" cy="1737360"/>
          </a:xfrm>
          <a:prstGeom prst="roundRect">
            <a:avLst>
              <a:gd name="adj" fmla="val 10526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1" name="Image 3" descr="E:\VS Code Projects\Website Nursery green\Images\Flower Mixture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892040" y="4526280"/>
            <a:ext cx="1371600" cy="1463040"/>
          </a:xfrm>
          <a:prstGeom prst="rect">
            <a:avLst/>
          </a:prstGeom>
        </p:spPr>
      </p:pic>
      <p:sp>
        <p:nvSpPr>
          <p:cNvPr id="32" name="Shape 26"/>
          <p:cNvSpPr/>
          <p:nvPr/>
        </p:nvSpPr>
        <p:spPr>
          <a:xfrm>
            <a:off x="6720840" y="4389120"/>
            <a:ext cx="1737360" cy="1737360"/>
          </a:xfrm>
          <a:prstGeom prst="roundRect">
            <a:avLst>
              <a:gd name="adj" fmla="val 10526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3" name="Image 4" descr="E:\VS Code Projects\Website Nursery green\Images\All in one mixture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903720" y="4526280"/>
            <a:ext cx="1371600" cy="1463040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685800" y="63093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Investor Deck  •  February 2026  •  Confidential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2E8"/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-2743200"/>
            <a:ext cx="7315200" cy="7315200"/>
          </a:xfrm>
          <a:prstGeom prst="ellipse">
            <a:avLst/>
          </a:prstGeom>
          <a:solidFill>
            <a:srgbClr val="1C6B44">
              <a:alpha val="1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-3657600"/>
            <a:ext cx="8229600" cy="8229600"/>
          </a:xfrm>
          <a:prstGeom prst="ellipse">
            <a:avLst/>
          </a:prstGeom>
          <a:solidFill>
            <a:srgbClr val="F6AD37">
              <a:alpha val="7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0" y="3657600"/>
            <a:ext cx="6400800" cy="6400800"/>
          </a:xfrm>
          <a:prstGeom prst="ellipse">
            <a:avLst/>
          </a:prstGeom>
          <a:solidFill>
            <a:srgbClr val="B1F24B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07797" y="5685725"/>
            <a:ext cx="102755" cy="102755"/>
          </a:xfrm>
          <a:prstGeom prst="ellipse">
            <a:avLst/>
          </a:prstGeom>
          <a:solidFill>
            <a:srgbClr val="1C6B44">
              <a:alpha val="1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83819" y="4930415"/>
            <a:ext cx="81140" cy="81140"/>
          </a:xfrm>
          <a:prstGeom prst="ellipse">
            <a:avLst/>
          </a:prstGeom>
          <a:solidFill>
            <a:srgbClr val="1C6B44">
              <a:alpha val="19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291440" y="5710103"/>
            <a:ext cx="151973" cy="151973"/>
          </a:xfrm>
          <a:prstGeom prst="ellipse">
            <a:avLst/>
          </a:prstGeom>
          <a:solidFill>
            <a:srgbClr val="1C6B44">
              <a:alpha val="24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5316" y="3551860"/>
            <a:ext cx="120245" cy="120245"/>
          </a:xfrm>
          <a:prstGeom prst="ellipse">
            <a:avLst/>
          </a:prstGeom>
          <a:solidFill>
            <a:srgbClr val="1C6B44">
              <a:alpha val="13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212351" y="1187035"/>
            <a:ext cx="103562" cy="103562"/>
          </a:xfrm>
          <a:prstGeom prst="ellipse">
            <a:avLst/>
          </a:prstGeom>
          <a:solidFill>
            <a:srgbClr val="1C6B44">
              <a:alpha val="23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83566" y="996447"/>
            <a:ext cx="66783" cy="66783"/>
          </a:xfrm>
          <a:prstGeom prst="ellipse">
            <a:avLst/>
          </a:prstGeom>
          <a:solidFill>
            <a:srgbClr val="1C6B44">
              <a:alpha val="13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133762" y="5852138"/>
            <a:ext cx="96764" cy="96764"/>
          </a:xfrm>
          <a:prstGeom prst="ellipse">
            <a:avLst/>
          </a:prstGeom>
          <a:solidFill>
            <a:srgbClr val="1C6B44">
              <a:alpha val="24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13704" y="3160017"/>
            <a:ext cx="162160" cy="162160"/>
          </a:xfrm>
          <a:prstGeom prst="ellipse">
            <a:avLst/>
          </a:prstGeom>
          <a:solidFill>
            <a:srgbClr val="1C6B44">
              <a:alpha val="2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36585" y="1250568"/>
            <a:ext cx="110807" cy="110807"/>
          </a:xfrm>
          <a:prstGeom prst="ellipse">
            <a:avLst/>
          </a:prstGeom>
          <a:solidFill>
            <a:srgbClr val="1C6B44">
              <a:alpha val="1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6218" y="1469433"/>
            <a:ext cx="139680" cy="139680"/>
          </a:xfrm>
          <a:prstGeom prst="ellipse">
            <a:avLst/>
          </a:prstGeom>
          <a:solidFill>
            <a:srgbClr val="1C6B44">
              <a:alpha val="1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959183" y="1306242"/>
            <a:ext cx="68740" cy="68740"/>
          </a:xfrm>
          <a:prstGeom prst="ellipse">
            <a:avLst/>
          </a:prstGeom>
          <a:solidFill>
            <a:srgbClr val="1C6B44">
              <a:alpha val="14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47738" y="5309951"/>
            <a:ext cx="105666" cy="105666"/>
          </a:xfrm>
          <a:prstGeom prst="ellipse">
            <a:avLst/>
          </a:prstGeom>
          <a:solidFill>
            <a:srgbClr val="1C6B44">
              <a:alpha val="19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C6B44"/>
          </a:solidFill>
          <a:ln/>
        </p:spPr>
      </p:sp>
      <p:sp>
        <p:nvSpPr>
          <p:cNvPr id="19" name="Shape 17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F6AD37">
              <a:alpha val="5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45720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2F2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Problem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685800" y="10515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F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₹18,000 Crore of silent plant deaths — fragmented diagnosis, no trust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10515600" y="502920"/>
            <a:ext cx="1005840" cy="502920"/>
          </a:xfrm>
          <a:prstGeom prst="roundRect">
            <a:avLst>
              <a:gd name="adj" fmla="val 27273"/>
            </a:avLst>
          </a:prstGeom>
          <a:solidFill>
            <a:srgbClr val="1C6B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515600" y="50292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01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85800" y="1828800"/>
            <a:ext cx="3474720" cy="219456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6350">
            <a:solidFill>
              <a:srgbClr val="DFE5D9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130552" y="2011680"/>
            <a:ext cx="585216" cy="585216"/>
          </a:xfrm>
          <a:prstGeom prst="ellipse">
            <a:avLst/>
          </a:prstGeom>
          <a:solidFill>
            <a:srgbClr val="E85D5D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189074" y="2070202"/>
            <a:ext cx="468173" cy="468173"/>
          </a:xfrm>
          <a:prstGeom prst="ellipse">
            <a:avLst/>
          </a:prstGeom>
          <a:solidFill>
            <a:srgbClr val="E85D5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130552" y="2040941"/>
            <a:ext cx="585216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🔍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22960" y="27432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B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Misdiagnosis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22960" y="306324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6F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60%+ wrong treatment from generic Google searches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434840" y="1828800"/>
            <a:ext cx="3474720" cy="219456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6350">
            <a:solidFill>
              <a:srgbClr val="DFE5D9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879592" y="2011680"/>
            <a:ext cx="585216" cy="585216"/>
          </a:xfrm>
          <a:prstGeom prst="ellipse">
            <a:avLst/>
          </a:prstGeom>
          <a:solidFill>
            <a:srgbClr val="F6AD37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38114" y="2070202"/>
            <a:ext cx="468173" cy="468173"/>
          </a:xfrm>
          <a:prstGeom prst="ellipse">
            <a:avLst/>
          </a:prstGeom>
          <a:solidFill>
            <a:srgbClr val="F6AD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79592" y="2040941"/>
            <a:ext cx="585216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🧩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572000" y="27432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B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Fragmented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572000" y="306324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6F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YouTube + Amazon + WhatsApp = no single source of truth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8183880" y="1828800"/>
            <a:ext cx="3474720" cy="219456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6350">
            <a:solidFill>
              <a:srgbClr val="DFE5D9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9628632" y="2011680"/>
            <a:ext cx="585216" cy="585216"/>
          </a:xfrm>
          <a:prstGeom prst="ellipse">
            <a:avLst/>
          </a:prstGeom>
          <a:solidFill>
            <a:srgbClr val="8B5CF6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687154" y="2070202"/>
            <a:ext cx="468173" cy="468173"/>
          </a:xfrm>
          <a:prstGeom prst="ellipse">
            <a:avLst/>
          </a:prstGeom>
          <a:solidFill>
            <a:srgbClr val="8B5C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628632" y="2040941"/>
            <a:ext cx="585216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🚫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8321040" y="27432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B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No Verification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8321040" y="306324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6F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Advice given without leaf, soil, or environment check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85800" y="4206240"/>
            <a:ext cx="3474720" cy="219456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6350">
            <a:solidFill>
              <a:srgbClr val="DFE5D9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5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2130552" y="4389120"/>
            <a:ext cx="585216" cy="585216"/>
          </a:xfrm>
          <a:prstGeom prst="ellipse">
            <a:avLst/>
          </a:prstGeom>
          <a:solidFill>
            <a:srgbClr val="4A90D9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189074" y="4447642"/>
            <a:ext cx="468173" cy="468173"/>
          </a:xfrm>
          <a:prstGeom prst="ellipse">
            <a:avLst/>
          </a:prstGeom>
          <a:solidFill>
            <a:srgbClr val="4A9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130552" y="4418381"/>
            <a:ext cx="585216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💸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822960" y="51206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B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Trust Deficit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822960" y="544068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6F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Users can't tell if a ₹200 spray will actually work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434840" y="4206240"/>
            <a:ext cx="3474720" cy="219456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6350">
            <a:solidFill>
              <a:srgbClr val="DFE5D9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5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5879592" y="4389120"/>
            <a:ext cx="585216" cy="585216"/>
          </a:xfrm>
          <a:prstGeom prst="ellipse">
            <a:avLst/>
          </a:prstGeom>
          <a:solidFill>
            <a:srgbClr val="14B8A6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938114" y="4447642"/>
            <a:ext cx="468173" cy="468173"/>
          </a:xfrm>
          <a:prstGeom prst="ellipse">
            <a:avLst/>
          </a:prstGeom>
          <a:solidFill>
            <a:srgbClr val="14B8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879592" y="4418381"/>
            <a:ext cx="585216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🔄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4572000" y="51206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B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No Feedback Loop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4572000" y="544068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6F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Brands sell but never learn if treatments actually worked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8183880" y="4206240"/>
            <a:ext cx="3337560" cy="2011680"/>
          </a:xfrm>
          <a:prstGeom prst="roundRect">
            <a:avLst>
              <a:gd name="adj" fmla="val 9091"/>
            </a:avLst>
          </a:prstGeom>
          <a:solidFill>
            <a:srgbClr val="0F2F2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321040" y="434340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1F2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TAM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8321040" y="466344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₹6K–₹18K Cr</a:t>
            </a:r>
            <a:endParaRPr lang="en-US" sz="2600" dirty="0"/>
          </a:p>
        </p:txBody>
      </p:sp>
      <p:sp>
        <p:nvSpPr>
          <p:cNvPr id="57" name="Text 55"/>
          <p:cNvSpPr/>
          <p:nvPr/>
        </p:nvSpPr>
        <p:spPr>
          <a:xfrm>
            <a:off x="8321040" y="521208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30M+ urban plant-owning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households × ₹2K–₹6K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annual spend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685800" y="6492240"/>
            <a:ext cx="10058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F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Growing 15–20% annually — urban gardening, balcony farming, wellness green living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2E8"/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-2743200"/>
            <a:ext cx="7315200" cy="7315200"/>
          </a:xfrm>
          <a:prstGeom prst="ellipse">
            <a:avLst/>
          </a:prstGeom>
          <a:solidFill>
            <a:srgbClr val="1C6B44">
              <a:alpha val="1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-3657600"/>
            <a:ext cx="8229600" cy="8229600"/>
          </a:xfrm>
          <a:prstGeom prst="ellipse">
            <a:avLst/>
          </a:prstGeom>
          <a:solidFill>
            <a:srgbClr val="F6AD37">
              <a:alpha val="7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0" y="3657600"/>
            <a:ext cx="6400800" cy="6400800"/>
          </a:xfrm>
          <a:prstGeom prst="ellipse">
            <a:avLst/>
          </a:prstGeom>
          <a:solidFill>
            <a:srgbClr val="B1F24B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09859" y="3545241"/>
            <a:ext cx="57204" cy="57204"/>
          </a:xfrm>
          <a:prstGeom prst="ellipse">
            <a:avLst/>
          </a:prstGeom>
          <a:solidFill>
            <a:srgbClr val="1C6B44">
              <a:alpha val="19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58030" y="820923"/>
            <a:ext cx="131197" cy="131197"/>
          </a:xfrm>
          <a:prstGeom prst="ellipse">
            <a:avLst/>
          </a:prstGeom>
          <a:solidFill>
            <a:srgbClr val="1C6B44">
              <a:alpha val="17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37993" y="3108628"/>
            <a:ext cx="88594" cy="88594"/>
          </a:xfrm>
          <a:prstGeom prst="ellipse">
            <a:avLst/>
          </a:prstGeom>
          <a:solidFill>
            <a:srgbClr val="1C6B44">
              <a:alpha val="1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8504" y="5078678"/>
            <a:ext cx="146799" cy="146799"/>
          </a:xfrm>
          <a:prstGeom prst="ellipse">
            <a:avLst/>
          </a:prstGeom>
          <a:solidFill>
            <a:srgbClr val="1C6B44">
              <a:alpha val="1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774466" y="4091247"/>
            <a:ext cx="73956" cy="73956"/>
          </a:xfrm>
          <a:prstGeom prst="ellipse">
            <a:avLst/>
          </a:prstGeom>
          <a:solidFill>
            <a:srgbClr val="1C6B44">
              <a:alpha val="23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68116" y="5426352"/>
            <a:ext cx="130521" cy="130521"/>
          </a:xfrm>
          <a:prstGeom prst="ellipse">
            <a:avLst/>
          </a:prstGeom>
          <a:solidFill>
            <a:srgbClr val="1C6B44">
              <a:alpha val="19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03215" y="5872264"/>
            <a:ext cx="101837" cy="101837"/>
          </a:xfrm>
          <a:prstGeom prst="ellipse">
            <a:avLst/>
          </a:prstGeom>
          <a:solidFill>
            <a:srgbClr val="1C6B44">
              <a:alpha val="17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67124" y="2747613"/>
            <a:ext cx="68242" cy="68242"/>
          </a:xfrm>
          <a:prstGeom prst="ellipse">
            <a:avLst/>
          </a:prstGeom>
          <a:solidFill>
            <a:srgbClr val="1C6B44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12811" y="4988638"/>
            <a:ext cx="101914" cy="101914"/>
          </a:xfrm>
          <a:prstGeom prst="ellipse">
            <a:avLst/>
          </a:prstGeom>
          <a:solidFill>
            <a:srgbClr val="1C6B44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15010" y="5559692"/>
            <a:ext cx="83021" cy="83021"/>
          </a:xfrm>
          <a:prstGeom prst="ellipse">
            <a:avLst/>
          </a:prstGeom>
          <a:solidFill>
            <a:srgbClr val="1C6B44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882908" y="1568062"/>
            <a:ext cx="118704" cy="118704"/>
          </a:xfrm>
          <a:prstGeom prst="ellipse">
            <a:avLst/>
          </a:prstGeom>
          <a:solidFill>
            <a:srgbClr val="1C6B44">
              <a:alpha val="1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75782" y="4854922"/>
            <a:ext cx="104104" cy="104104"/>
          </a:xfrm>
          <a:prstGeom prst="ellipse">
            <a:avLst/>
          </a:prstGeom>
          <a:solidFill>
            <a:srgbClr val="1C6B44">
              <a:alpha val="23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C6B44"/>
          </a:solidFill>
          <a:ln/>
        </p:spPr>
      </p:sp>
      <p:sp>
        <p:nvSpPr>
          <p:cNvPr id="19" name="Shape 17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F6AD37">
              <a:alpha val="5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45720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2F2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Our Solution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685800" y="10515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F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Verified diagnosis + treatment + commerce + community — one app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10515600" y="502920"/>
            <a:ext cx="1005840" cy="502920"/>
          </a:xfrm>
          <a:prstGeom prst="roundRect">
            <a:avLst>
              <a:gd name="adj" fmla="val 27273"/>
            </a:avLst>
          </a:prstGeom>
          <a:solidFill>
            <a:srgbClr val="1C6B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515600" y="50292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02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02920" y="1691640"/>
            <a:ext cx="3520440" cy="2286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6350">
            <a:solidFill>
              <a:srgbClr val="DFE5D9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970532" y="1874520"/>
            <a:ext cx="585216" cy="585216"/>
          </a:xfrm>
          <a:prstGeom prst="ellipse">
            <a:avLst/>
          </a:prstGeom>
          <a:solidFill>
            <a:srgbClr val="1C6B44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029054" y="1933042"/>
            <a:ext cx="468173" cy="468173"/>
          </a:xfrm>
          <a:prstGeom prst="ellipse">
            <a:avLst/>
          </a:prstGeom>
          <a:solidFill>
            <a:srgbClr val="1C6B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970532" y="1903781"/>
            <a:ext cx="585216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📷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40080" y="260604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B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Plant Scanner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0080" y="2926080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6F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50+ diseases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6F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100+ Indian remedies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6F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Pixel-level analysis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6F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Hybrid online/offline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297680" y="1691640"/>
            <a:ext cx="3520440" cy="2286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6350">
            <a:solidFill>
              <a:srgbClr val="DFE5D9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765292" y="1874520"/>
            <a:ext cx="585216" cy="585216"/>
          </a:xfrm>
          <a:prstGeom prst="ellipse">
            <a:avLst/>
          </a:prstGeom>
          <a:solidFill>
            <a:srgbClr val="4A90D9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23814" y="1933042"/>
            <a:ext cx="468173" cy="468173"/>
          </a:xfrm>
          <a:prstGeom prst="ellipse">
            <a:avLst/>
          </a:prstGeom>
          <a:solidFill>
            <a:srgbClr val="4A9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765292" y="1903781"/>
            <a:ext cx="585216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🧠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434840" y="260604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B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Knowledge DB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434840" y="2926080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6F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Auto-refreshing MongoDB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6F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Verification pipeline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6F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categories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6F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Audit trail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8092440" y="1691640"/>
            <a:ext cx="3520440" cy="2286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6350">
            <a:solidFill>
              <a:srgbClr val="DFE5D9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9560052" y="1874520"/>
            <a:ext cx="585216" cy="585216"/>
          </a:xfrm>
          <a:prstGeom prst="ellipse">
            <a:avLst/>
          </a:prstGeom>
          <a:solidFill>
            <a:srgbClr val="14B8A6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618574" y="1933042"/>
            <a:ext cx="468173" cy="468173"/>
          </a:xfrm>
          <a:prstGeom prst="ellipse">
            <a:avLst/>
          </a:prstGeom>
          <a:solidFill>
            <a:srgbClr val="14B8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560052" y="1903781"/>
            <a:ext cx="585216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💬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8229600" y="260604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B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Smart Chatbot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8229600" y="2926080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6F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Chat → order flow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6F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Plant-care routing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6F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Order tracking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6F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Knowledge integration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02920" y="4160520"/>
            <a:ext cx="3520440" cy="2286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6350">
            <a:solidFill>
              <a:srgbClr val="DFE5D9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5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1970532" y="4343400"/>
            <a:ext cx="585216" cy="585216"/>
          </a:xfrm>
          <a:prstGeom prst="ellipse">
            <a:avLst/>
          </a:prstGeom>
          <a:solidFill>
            <a:srgbClr val="8B5CF6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029054" y="4401922"/>
            <a:ext cx="468173" cy="468173"/>
          </a:xfrm>
          <a:prstGeom prst="ellipse">
            <a:avLst/>
          </a:prstGeom>
          <a:solidFill>
            <a:srgbClr val="8B5C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970532" y="4372661"/>
            <a:ext cx="585216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👥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640080" y="507492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B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Community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40080" y="5394960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6F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Show &amp; Tell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6F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Tips &amp; Tricks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6F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Help &amp; Advice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6F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Before/after photos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297680" y="4160520"/>
            <a:ext cx="3520440" cy="2286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6350">
            <a:solidFill>
              <a:srgbClr val="DFE5D9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5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5765292" y="4343400"/>
            <a:ext cx="585216" cy="585216"/>
          </a:xfrm>
          <a:prstGeom prst="ellipse">
            <a:avLst/>
          </a:prstGeom>
          <a:solidFill>
            <a:srgbClr val="F6AD37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823814" y="4401922"/>
            <a:ext cx="468173" cy="468173"/>
          </a:xfrm>
          <a:prstGeom prst="ellipse">
            <a:avLst/>
          </a:prstGeom>
          <a:solidFill>
            <a:srgbClr val="F6AD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765292" y="4372661"/>
            <a:ext cx="585216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🛒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4434840" y="507492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B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Commerce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4434840" y="5394960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6F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100% organic products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6F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Razorpay (UPI + Card)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6F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Free shipping ₹1999+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6F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30-day guarantee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8092440" y="4160520"/>
            <a:ext cx="3520440" cy="2286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6350">
            <a:solidFill>
              <a:srgbClr val="DFE5D9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5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9560052" y="4343400"/>
            <a:ext cx="585216" cy="585216"/>
          </a:xfrm>
          <a:prstGeom prst="ellipse">
            <a:avLst/>
          </a:prstGeom>
          <a:solidFill>
            <a:srgbClr val="EC4899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9618574" y="4401922"/>
            <a:ext cx="468173" cy="468173"/>
          </a:xfrm>
          <a:prstGeom prst="ellipse">
            <a:avLst/>
          </a:prstGeom>
          <a:solidFill>
            <a:srgbClr val="EC489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560052" y="4372661"/>
            <a:ext cx="585216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📱</a:t>
            </a:r>
            <a:endParaRPr lang="en-US" sz="1400" dirty="0"/>
          </a:p>
        </p:txBody>
      </p:sp>
      <p:sp>
        <p:nvSpPr>
          <p:cNvPr id="58" name="Text 56"/>
          <p:cNvSpPr/>
          <p:nvPr/>
        </p:nvSpPr>
        <p:spPr>
          <a:xfrm>
            <a:off x="8229600" y="507492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B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Mobile App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8229600" y="5394960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6F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Expo + React Native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6F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iOS + Android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6F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Google/FB OAuth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6F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Deep-link support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685800" y="6492240"/>
            <a:ext cx="10058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F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features live &amp; deployed — Railway backend, Razorpay payments, OAuth, admin tooling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6B44"/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-2743200"/>
            <a:ext cx="7315200" cy="7315200"/>
          </a:xfrm>
          <a:prstGeom prst="ellipse">
            <a:avLst/>
          </a:prstGeom>
          <a:solidFill>
            <a:srgbClr val="B1F24B">
              <a:alpha val="1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-3657600"/>
            <a:ext cx="8229600" cy="8229600"/>
          </a:xfrm>
          <a:prstGeom prst="ellipse">
            <a:avLst/>
          </a:prstGeom>
          <a:solidFill>
            <a:srgbClr val="F6AD37">
              <a:alpha val="7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0" y="3657600"/>
            <a:ext cx="6400800" cy="6400800"/>
          </a:xfrm>
          <a:prstGeom prst="ellipse">
            <a:avLst/>
          </a:prstGeom>
          <a:solidFill>
            <a:srgbClr val="B1F24B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920034" y="3880809"/>
            <a:ext cx="77676" cy="77676"/>
          </a:xfrm>
          <a:prstGeom prst="ellipse">
            <a:avLst/>
          </a:prstGeom>
          <a:solidFill>
            <a:srgbClr val="B1F24B">
              <a:alpha val="19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42662" y="1857339"/>
            <a:ext cx="80458" cy="80458"/>
          </a:xfrm>
          <a:prstGeom prst="ellipse">
            <a:avLst/>
          </a:prstGeom>
          <a:solidFill>
            <a:srgbClr val="B1F24B">
              <a:alpha val="2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61325" y="1108265"/>
            <a:ext cx="162060" cy="162060"/>
          </a:xfrm>
          <a:prstGeom prst="ellipse">
            <a:avLst/>
          </a:prstGeom>
          <a:solidFill>
            <a:srgbClr val="B1F24B">
              <a:alpha val="1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95802" y="4710449"/>
            <a:ext cx="94713" cy="94713"/>
          </a:xfrm>
          <a:prstGeom prst="ellipse">
            <a:avLst/>
          </a:prstGeom>
          <a:solidFill>
            <a:srgbClr val="B1F24B">
              <a:alpha val="21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28663" y="1981030"/>
            <a:ext cx="101405" cy="101405"/>
          </a:xfrm>
          <a:prstGeom prst="ellipse">
            <a:avLst/>
          </a:prstGeom>
          <a:solidFill>
            <a:srgbClr val="B1F24B">
              <a:alpha val="24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62197" y="2655080"/>
            <a:ext cx="154352" cy="154352"/>
          </a:xfrm>
          <a:prstGeom prst="ellipse">
            <a:avLst/>
          </a:prstGeom>
          <a:solidFill>
            <a:srgbClr val="B1F24B">
              <a:alpha val="1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1982" y="5242791"/>
            <a:ext cx="97951" cy="97951"/>
          </a:xfrm>
          <a:prstGeom prst="ellipse">
            <a:avLst/>
          </a:prstGeom>
          <a:solidFill>
            <a:srgbClr val="B1F24B">
              <a:alpha val="1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65727" y="2568402"/>
            <a:ext cx="154763" cy="154763"/>
          </a:xfrm>
          <a:prstGeom prst="ellipse">
            <a:avLst/>
          </a:prstGeom>
          <a:solidFill>
            <a:srgbClr val="B1F24B">
              <a:alpha val="1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955453" y="5367241"/>
            <a:ext cx="68070" cy="68070"/>
          </a:xfrm>
          <a:prstGeom prst="ellipse">
            <a:avLst/>
          </a:prstGeom>
          <a:solidFill>
            <a:srgbClr val="B1F24B">
              <a:alpha val="2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895437" y="2064176"/>
            <a:ext cx="138540" cy="138540"/>
          </a:xfrm>
          <a:prstGeom prst="ellipse">
            <a:avLst/>
          </a:prstGeom>
          <a:solidFill>
            <a:srgbClr val="B1F24B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309509" y="577922"/>
            <a:ext cx="164181" cy="164181"/>
          </a:xfrm>
          <a:prstGeom prst="ellipse">
            <a:avLst/>
          </a:prstGeom>
          <a:solidFill>
            <a:srgbClr val="B1F24B">
              <a:alpha val="24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61360" y="837298"/>
            <a:ext cx="84602" cy="84602"/>
          </a:xfrm>
          <a:prstGeom prst="ellipse">
            <a:avLst/>
          </a:prstGeom>
          <a:solidFill>
            <a:srgbClr val="B1F24B">
              <a:alpha val="11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1F24B"/>
          </a:solidFill>
          <a:ln/>
        </p:spPr>
      </p:sp>
      <p:sp>
        <p:nvSpPr>
          <p:cNvPr id="19" name="Shape 17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F6AD37">
              <a:alpha val="5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45720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Product Catalog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685800" y="10515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DDD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100% organic plant care — made for Indian conditions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10515600" y="502920"/>
            <a:ext cx="1005840" cy="502920"/>
          </a:xfrm>
          <a:prstGeom prst="roundRect">
            <a:avLst>
              <a:gd name="adj" fmla="val 27273"/>
            </a:avLst>
          </a:prstGeom>
          <a:solidFill>
            <a:srgbClr val="1C6B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515600" y="50292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03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57200" y="1828800"/>
            <a:ext cx="2103120" cy="41148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50800" dir="16200000">
              <a:srgbClr val="000000">
                <a:alpha val="12000"/>
              </a:srgbClr>
            </a:outerShdw>
          </a:effectLst>
        </p:spPr>
      </p:sp>
      <p:pic>
        <p:nvPicPr>
          <p:cNvPr id="25" name="Image 0" descr="E:\VS Code Projects\Website Nursery green\Images\Plant Booster Spra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2011680"/>
            <a:ext cx="1737360" cy="256032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548640" y="46634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B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Plant Booster Spray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960120" y="5074920"/>
            <a:ext cx="1097280" cy="347472"/>
          </a:xfrm>
          <a:prstGeom prst="roundRect">
            <a:avLst>
              <a:gd name="adj" fmla="val 50000"/>
            </a:avLst>
          </a:prstGeom>
          <a:solidFill>
            <a:srgbClr val="B1F2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960120" y="507492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F2F2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₹180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2743200" y="1828800"/>
            <a:ext cx="2103120" cy="41148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50800" dir="16200000">
              <a:srgbClr val="000000">
                <a:alpha val="12000"/>
              </a:srgbClr>
            </a:outerShdw>
          </a:effectLst>
        </p:spPr>
      </p:sp>
      <p:pic>
        <p:nvPicPr>
          <p:cNvPr id="30" name="Image 1" descr="E:\VS Code Projects\Website Nursery green\Images\Neem Oil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926080" y="2011680"/>
            <a:ext cx="1737360" cy="2560320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2834640" y="46634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B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Neem Oil</a:t>
            </a:r>
            <a:endParaRPr lang="en-US" sz="1100" dirty="0"/>
          </a:p>
        </p:txBody>
      </p:sp>
      <p:sp>
        <p:nvSpPr>
          <p:cNvPr id="32" name="Shape 28"/>
          <p:cNvSpPr/>
          <p:nvPr/>
        </p:nvSpPr>
        <p:spPr>
          <a:xfrm>
            <a:off x="3246120" y="5074920"/>
            <a:ext cx="1097280" cy="347472"/>
          </a:xfrm>
          <a:prstGeom prst="roundRect">
            <a:avLst>
              <a:gd name="adj" fmla="val 50000"/>
            </a:avLst>
          </a:prstGeom>
          <a:solidFill>
            <a:srgbClr val="B1F2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3246120" y="507492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F2F2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₹150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5029200" y="1828800"/>
            <a:ext cx="2103120" cy="41148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50800" dir="16200000">
              <a:srgbClr val="000000">
                <a:alpha val="12000"/>
              </a:srgbClr>
            </a:outerShdw>
          </a:effectLst>
        </p:spPr>
      </p:sp>
      <p:pic>
        <p:nvPicPr>
          <p:cNvPr id="35" name="Image 2" descr="E:\VS Code Projects\Website Nursery green\Images\Flower Mixture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212080" y="2011680"/>
            <a:ext cx="1737360" cy="2560320"/>
          </a:xfrm>
          <a:prstGeom prst="rect">
            <a:avLst/>
          </a:prstGeom>
        </p:spPr>
      </p:pic>
      <p:sp>
        <p:nvSpPr>
          <p:cNvPr id="36" name="Text 31"/>
          <p:cNvSpPr/>
          <p:nvPr/>
        </p:nvSpPr>
        <p:spPr>
          <a:xfrm>
            <a:off x="5120640" y="46634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B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Flower Mixture</a:t>
            </a:r>
            <a:endParaRPr lang="en-US" sz="1100" dirty="0"/>
          </a:p>
        </p:txBody>
      </p:sp>
      <p:sp>
        <p:nvSpPr>
          <p:cNvPr id="37" name="Shape 32"/>
          <p:cNvSpPr/>
          <p:nvPr/>
        </p:nvSpPr>
        <p:spPr>
          <a:xfrm>
            <a:off x="5532120" y="5074920"/>
            <a:ext cx="1097280" cy="347472"/>
          </a:xfrm>
          <a:prstGeom prst="roundRect">
            <a:avLst>
              <a:gd name="adj" fmla="val 50000"/>
            </a:avLst>
          </a:prstGeom>
          <a:solidFill>
            <a:srgbClr val="B1F2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Text 33"/>
          <p:cNvSpPr/>
          <p:nvPr/>
        </p:nvSpPr>
        <p:spPr>
          <a:xfrm>
            <a:off x="5532120" y="507492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F2F2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₹230</a:t>
            </a:r>
            <a:endParaRPr lang="en-US" sz="1300" dirty="0"/>
          </a:p>
        </p:txBody>
      </p:sp>
      <p:sp>
        <p:nvSpPr>
          <p:cNvPr id="39" name="Shape 34"/>
          <p:cNvSpPr/>
          <p:nvPr/>
        </p:nvSpPr>
        <p:spPr>
          <a:xfrm>
            <a:off x="7315200" y="1828800"/>
            <a:ext cx="2103120" cy="41148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50800" dir="16200000">
              <a:srgbClr val="000000">
                <a:alpha val="12000"/>
              </a:srgbClr>
            </a:outerShdw>
          </a:effectLst>
        </p:spPr>
      </p:sp>
      <p:pic>
        <p:nvPicPr>
          <p:cNvPr id="40" name="Image 3" descr="E:\VS Code Projects\Website Nursery green\Images\All in one mixture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498080" y="2011680"/>
            <a:ext cx="1737360" cy="2560320"/>
          </a:xfrm>
          <a:prstGeom prst="rect">
            <a:avLst/>
          </a:prstGeom>
        </p:spPr>
      </p:pic>
      <p:sp>
        <p:nvSpPr>
          <p:cNvPr id="41" name="Text 35"/>
          <p:cNvSpPr/>
          <p:nvPr/>
        </p:nvSpPr>
        <p:spPr>
          <a:xfrm>
            <a:off x="7406640" y="46634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B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All-in-One Mixture</a:t>
            </a:r>
            <a:endParaRPr lang="en-US" sz="1100" dirty="0"/>
          </a:p>
        </p:txBody>
      </p:sp>
      <p:sp>
        <p:nvSpPr>
          <p:cNvPr id="42" name="Shape 36"/>
          <p:cNvSpPr/>
          <p:nvPr/>
        </p:nvSpPr>
        <p:spPr>
          <a:xfrm>
            <a:off x="7818120" y="5074920"/>
            <a:ext cx="1097280" cy="347472"/>
          </a:xfrm>
          <a:prstGeom prst="roundRect">
            <a:avLst>
              <a:gd name="adj" fmla="val 50000"/>
            </a:avLst>
          </a:prstGeom>
          <a:solidFill>
            <a:srgbClr val="B1F2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37"/>
          <p:cNvSpPr/>
          <p:nvPr/>
        </p:nvSpPr>
        <p:spPr>
          <a:xfrm>
            <a:off x="7818120" y="507492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F2F2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₹199</a:t>
            </a:r>
            <a:endParaRPr lang="en-US" sz="1300" dirty="0"/>
          </a:p>
        </p:txBody>
      </p:sp>
      <p:sp>
        <p:nvSpPr>
          <p:cNvPr id="44" name="Shape 38"/>
          <p:cNvSpPr/>
          <p:nvPr/>
        </p:nvSpPr>
        <p:spPr>
          <a:xfrm>
            <a:off x="9601200" y="1828800"/>
            <a:ext cx="2103120" cy="41148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50800" dir="16200000">
              <a:srgbClr val="000000">
                <a:alpha val="12000"/>
              </a:srgbClr>
            </a:outerShdw>
          </a:effectLst>
        </p:spPr>
      </p:sp>
      <p:pic>
        <p:nvPicPr>
          <p:cNvPr id="45" name="Image 4" descr="E:\VS Code Projects\Website Nursery green\Images\Flower Booster Spray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9784080" y="2011680"/>
            <a:ext cx="1737360" cy="2560320"/>
          </a:xfrm>
          <a:prstGeom prst="rect">
            <a:avLst/>
          </a:prstGeom>
        </p:spPr>
      </p:pic>
      <p:sp>
        <p:nvSpPr>
          <p:cNvPr id="46" name="Text 39"/>
          <p:cNvSpPr/>
          <p:nvPr/>
        </p:nvSpPr>
        <p:spPr>
          <a:xfrm>
            <a:off x="9692640" y="46634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B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Flower Booster</a:t>
            </a:r>
            <a:endParaRPr lang="en-US" sz="1100" dirty="0"/>
          </a:p>
        </p:txBody>
      </p:sp>
      <p:sp>
        <p:nvSpPr>
          <p:cNvPr id="47" name="Shape 40"/>
          <p:cNvSpPr/>
          <p:nvPr/>
        </p:nvSpPr>
        <p:spPr>
          <a:xfrm>
            <a:off x="10104120" y="5074920"/>
            <a:ext cx="1097280" cy="347472"/>
          </a:xfrm>
          <a:prstGeom prst="roundRect">
            <a:avLst>
              <a:gd name="adj" fmla="val 50000"/>
            </a:avLst>
          </a:prstGeom>
          <a:solidFill>
            <a:srgbClr val="B1F2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8" name="Text 41"/>
          <p:cNvSpPr/>
          <p:nvPr/>
        </p:nvSpPr>
        <p:spPr>
          <a:xfrm>
            <a:off x="10104120" y="507492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F2F2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₹180</a:t>
            </a:r>
            <a:endParaRPr lang="en-US" sz="1300" dirty="0"/>
          </a:p>
        </p:txBody>
      </p:sp>
      <p:sp>
        <p:nvSpPr>
          <p:cNvPr id="49" name="Text 42"/>
          <p:cNvSpPr/>
          <p:nvPr/>
        </p:nvSpPr>
        <p:spPr>
          <a:xfrm>
            <a:off x="685800" y="6492240"/>
            <a:ext cx="10058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Free shipping above ₹1,999  •  30-day replacement guarantee  •  Desi remedies included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2E8"/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-2743200"/>
            <a:ext cx="7315200" cy="7315200"/>
          </a:xfrm>
          <a:prstGeom prst="ellipse">
            <a:avLst/>
          </a:prstGeom>
          <a:solidFill>
            <a:srgbClr val="1C6B44">
              <a:alpha val="1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-3657600"/>
            <a:ext cx="8229600" cy="8229600"/>
          </a:xfrm>
          <a:prstGeom prst="ellipse">
            <a:avLst/>
          </a:prstGeom>
          <a:solidFill>
            <a:srgbClr val="F6AD37">
              <a:alpha val="7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0" y="3657600"/>
            <a:ext cx="6400800" cy="6400800"/>
          </a:xfrm>
          <a:prstGeom prst="ellipse">
            <a:avLst/>
          </a:prstGeom>
          <a:solidFill>
            <a:srgbClr val="B1F24B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49238" y="732690"/>
            <a:ext cx="58950" cy="58950"/>
          </a:xfrm>
          <a:prstGeom prst="ellipse">
            <a:avLst/>
          </a:prstGeom>
          <a:solidFill>
            <a:srgbClr val="1C6B44">
              <a:alpha val="13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528716" y="1450994"/>
            <a:ext cx="117684" cy="117684"/>
          </a:xfrm>
          <a:prstGeom prst="ellipse">
            <a:avLst/>
          </a:prstGeom>
          <a:solidFill>
            <a:srgbClr val="1C6B44">
              <a:alpha val="1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92719" y="2441094"/>
            <a:ext cx="150981" cy="150981"/>
          </a:xfrm>
          <a:prstGeom prst="ellipse">
            <a:avLst/>
          </a:prstGeom>
          <a:solidFill>
            <a:srgbClr val="1C6B44">
              <a:alpha val="14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28528" y="2758378"/>
            <a:ext cx="148200" cy="148200"/>
          </a:xfrm>
          <a:prstGeom prst="ellipse">
            <a:avLst/>
          </a:prstGeom>
          <a:solidFill>
            <a:srgbClr val="1C6B44">
              <a:alpha val="19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61514" y="4470222"/>
            <a:ext cx="134164" cy="134164"/>
          </a:xfrm>
          <a:prstGeom prst="ellipse">
            <a:avLst/>
          </a:prstGeom>
          <a:solidFill>
            <a:srgbClr val="1C6B44">
              <a:alpha val="17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797967" y="3674212"/>
            <a:ext cx="79685" cy="79685"/>
          </a:xfrm>
          <a:prstGeom prst="ellipse">
            <a:avLst/>
          </a:prstGeom>
          <a:solidFill>
            <a:srgbClr val="1C6B44">
              <a:alpha val="1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86211" y="2712865"/>
            <a:ext cx="144092" cy="144092"/>
          </a:xfrm>
          <a:prstGeom prst="ellipse">
            <a:avLst/>
          </a:prstGeom>
          <a:solidFill>
            <a:srgbClr val="1C6B44">
              <a:alpha val="1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313594" y="915050"/>
            <a:ext cx="118763" cy="118763"/>
          </a:xfrm>
          <a:prstGeom prst="ellipse">
            <a:avLst/>
          </a:prstGeom>
          <a:solidFill>
            <a:srgbClr val="1C6B44">
              <a:alpha val="19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974941" y="774187"/>
            <a:ext cx="153147" cy="153147"/>
          </a:xfrm>
          <a:prstGeom prst="ellipse">
            <a:avLst/>
          </a:prstGeom>
          <a:solidFill>
            <a:srgbClr val="1C6B44">
              <a:alpha val="17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508378" y="2253282"/>
            <a:ext cx="153344" cy="153344"/>
          </a:xfrm>
          <a:prstGeom prst="ellipse">
            <a:avLst/>
          </a:prstGeom>
          <a:solidFill>
            <a:srgbClr val="1C6B44">
              <a:alpha val="2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6668" y="5210881"/>
            <a:ext cx="161887" cy="161887"/>
          </a:xfrm>
          <a:prstGeom prst="ellipse">
            <a:avLst/>
          </a:prstGeom>
          <a:solidFill>
            <a:srgbClr val="1C6B44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59400" y="486626"/>
            <a:ext cx="72306" cy="72306"/>
          </a:xfrm>
          <a:prstGeom prst="ellipse">
            <a:avLst/>
          </a:prstGeom>
          <a:solidFill>
            <a:srgbClr val="1C6B44">
              <a:alpha val="13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C6B44"/>
          </a:solidFill>
          <a:ln/>
        </p:spPr>
      </p:sp>
      <p:sp>
        <p:nvSpPr>
          <p:cNvPr id="19" name="Shape 17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F6AD37">
              <a:alpha val="5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45720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2F2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Why Now — India's Moment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685800" y="10515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F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UPI + mobile + D2C momentum = perfect convergence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10515600" y="502920"/>
            <a:ext cx="1005840" cy="502920"/>
          </a:xfrm>
          <a:prstGeom prst="roundRect">
            <a:avLst>
              <a:gd name="adj" fmla="val 27273"/>
            </a:avLst>
          </a:prstGeom>
          <a:solidFill>
            <a:srgbClr val="1C6B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515600" y="50292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04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57200" y="1828800"/>
            <a:ext cx="2651760" cy="1143000"/>
          </a:xfrm>
          <a:prstGeom prst="roundRect">
            <a:avLst>
              <a:gd name="adj" fmla="val 12800"/>
            </a:avLst>
          </a:prstGeom>
          <a:solidFill>
            <a:srgbClr val="FFFFFF"/>
          </a:solidFill>
          <a:ln w="6350">
            <a:solidFill>
              <a:srgbClr val="DFE5D9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94360" y="1938528"/>
            <a:ext cx="2377440" cy="54864"/>
          </a:xfrm>
          <a:prstGeom prst="rect">
            <a:avLst/>
          </a:prstGeom>
          <a:solidFill>
            <a:srgbClr val="1C6B44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2084832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2F2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21.7B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457200" y="257860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F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UPI txns (Jan 2026)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91840" y="1828800"/>
            <a:ext cx="2651760" cy="1143000"/>
          </a:xfrm>
          <a:prstGeom prst="roundRect">
            <a:avLst>
              <a:gd name="adj" fmla="val 12800"/>
            </a:avLst>
          </a:prstGeom>
          <a:solidFill>
            <a:srgbClr val="FFFFFF"/>
          </a:solidFill>
          <a:ln w="6350">
            <a:solidFill>
              <a:srgbClr val="DFE5D9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429000" y="1938528"/>
            <a:ext cx="2377440" cy="54864"/>
          </a:xfrm>
          <a:prstGeom prst="rect">
            <a:avLst/>
          </a:prstGeom>
          <a:solidFill>
            <a:srgbClr val="14B8A6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91840" y="2084832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2F2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₹28.3L Cr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3291840" y="257860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F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UPI value (Jan 2026)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126480" y="1828800"/>
            <a:ext cx="2651760" cy="1143000"/>
          </a:xfrm>
          <a:prstGeom prst="roundRect">
            <a:avLst>
              <a:gd name="adj" fmla="val 12800"/>
            </a:avLst>
          </a:prstGeom>
          <a:solidFill>
            <a:srgbClr val="FFFFFF"/>
          </a:solidFill>
          <a:ln w="6350">
            <a:solidFill>
              <a:srgbClr val="DFE5D9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263640" y="1938528"/>
            <a:ext cx="2377440" cy="54864"/>
          </a:xfrm>
          <a:prstGeom prst="rect">
            <a:avLst/>
          </a:prstGeom>
          <a:solidFill>
            <a:srgbClr val="F6AD37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26480" y="2084832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2F2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$163B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6126480" y="257860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F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E-commerce 2026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8961120" y="1828800"/>
            <a:ext cx="2606040" cy="1143000"/>
          </a:xfrm>
          <a:prstGeom prst="roundRect">
            <a:avLst>
              <a:gd name="adj" fmla="val 12800"/>
            </a:avLst>
          </a:prstGeom>
          <a:solidFill>
            <a:srgbClr val="FFFFFF"/>
          </a:solidFill>
          <a:ln w="6350">
            <a:solidFill>
              <a:srgbClr val="DFE5D9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9098280" y="1938528"/>
            <a:ext cx="2331720" cy="54864"/>
          </a:xfrm>
          <a:prstGeom prst="rect">
            <a:avLst/>
          </a:prstGeom>
          <a:solidFill>
            <a:srgbClr val="4A90D9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961120" y="2084832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2F2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900M+</a:t>
            </a:r>
            <a:endParaRPr lang="en-US" sz="2400" dirty="0"/>
          </a:p>
        </p:txBody>
      </p:sp>
      <p:sp>
        <p:nvSpPr>
          <p:cNvPr id="39" name="Text 37"/>
          <p:cNvSpPr/>
          <p:nvPr/>
        </p:nvSpPr>
        <p:spPr>
          <a:xfrm>
            <a:off x="8961120" y="2578608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F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Smartphones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57200" y="3291840"/>
            <a:ext cx="2651760" cy="1143000"/>
          </a:xfrm>
          <a:prstGeom prst="roundRect">
            <a:avLst>
              <a:gd name="adj" fmla="val 12800"/>
            </a:avLst>
          </a:prstGeom>
          <a:solidFill>
            <a:srgbClr val="FFFFFF"/>
          </a:solidFill>
          <a:ln w="6350">
            <a:solidFill>
              <a:srgbClr val="DFE5D9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594360" y="3401568"/>
            <a:ext cx="2377440" cy="54864"/>
          </a:xfrm>
          <a:prstGeom prst="rect">
            <a:avLst/>
          </a:prstGeom>
          <a:solidFill>
            <a:srgbClr val="8B5CF6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3547872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2F2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$60B</a:t>
            </a:r>
            <a:endParaRPr lang="en-US" sz="2400" dirty="0"/>
          </a:p>
        </p:txBody>
      </p:sp>
      <p:sp>
        <p:nvSpPr>
          <p:cNvPr id="43" name="Text 41"/>
          <p:cNvSpPr/>
          <p:nvPr/>
        </p:nvSpPr>
        <p:spPr>
          <a:xfrm>
            <a:off x="457200" y="404164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F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D2C by 2027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291840" y="3291840"/>
            <a:ext cx="2651760" cy="1143000"/>
          </a:xfrm>
          <a:prstGeom prst="roundRect">
            <a:avLst>
              <a:gd name="adj" fmla="val 12800"/>
            </a:avLst>
          </a:prstGeom>
          <a:solidFill>
            <a:srgbClr val="FFFFFF"/>
          </a:solidFill>
          <a:ln w="6350">
            <a:solidFill>
              <a:srgbClr val="DFE5D9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5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3429000" y="3401568"/>
            <a:ext cx="2377440" cy="54864"/>
          </a:xfrm>
          <a:prstGeom prst="rect">
            <a:avLst/>
          </a:prstGeom>
          <a:solidFill>
            <a:srgbClr val="EC4899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291840" y="3547872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2F2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40%</a:t>
            </a:r>
            <a:endParaRPr lang="en-US" sz="2400" dirty="0"/>
          </a:p>
        </p:txBody>
      </p:sp>
      <p:sp>
        <p:nvSpPr>
          <p:cNvPr id="47" name="Text 45"/>
          <p:cNvSpPr/>
          <p:nvPr/>
        </p:nvSpPr>
        <p:spPr>
          <a:xfrm>
            <a:off x="3291840" y="404164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F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D2C CAGR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126480" y="3291840"/>
            <a:ext cx="2651760" cy="1143000"/>
          </a:xfrm>
          <a:prstGeom prst="roundRect">
            <a:avLst>
              <a:gd name="adj" fmla="val 12800"/>
            </a:avLst>
          </a:prstGeom>
          <a:solidFill>
            <a:srgbClr val="FFFFFF"/>
          </a:solidFill>
          <a:ln w="6350">
            <a:solidFill>
              <a:srgbClr val="DFE5D9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5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6263640" y="3401568"/>
            <a:ext cx="2377440" cy="54864"/>
          </a:xfrm>
          <a:prstGeom prst="rect">
            <a:avLst/>
          </a:prstGeom>
          <a:solidFill>
            <a:srgbClr val="1C6B44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126480" y="3547872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2F2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$170B</a:t>
            </a:r>
            <a:endParaRPr lang="en-US" sz="2400" dirty="0"/>
          </a:p>
        </p:txBody>
      </p:sp>
      <p:sp>
        <p:nvSpPr>
          <p:cNvPr id="51" name="Text 49"/>
          <p:cNvSpPr/>
          <p:nvPr/>
        </p:nvSpPr>
        <p:spPr>
          <a:xfrm>
            <a:off x="6126480" y="404164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F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E-retail 2030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8961120" y="3291840"/>
            <a:ext cx="2606040" cy="1143000"/>
          </a:xfrm>
          <a:prstGeom prst="roundRect">
            <a:avLst>
              <a:gd name="adj" fmla="val 12800"/>
            </a:avLst>
          </a:prstGeom>
          <a:solidFill>
            <a:srgbClr val="FFFFFF"/>
          </a:solidFill>
          <a:ln w="6350">
            <a:solidFill>
              <a:srgbClr val="DFE5D9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5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9098280" y="3401568"/>
            <a:ext cx="2331720" cy="54864"/>
          </a:xfrm>
          <a:prstGeom prst="rect">
            <a:avLst/>
          </a:prstGeom>
          <a:solidFill>
            <a:srgbClr val="F6AD37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961120" y="3547872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2F2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691</a:t>
            </a:r>
            <a:endParaRPr lang="en-US" sz="2400" dirty="0"/>
          </a:p>
        </p:txBody>
      </p:sp>
      <p:sp>
        <p:nvSpPr>
          <p:cNvPr id="55" name="Text 53"/>
          <p:cNvSpPr/>
          <p:nvPr/>
        </p:nvSpPr>
        <p:spPr>
          <a:xfrm>
            <a:off x="8961120" y="4041648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F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Banks on UPI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457200" y="4754880"/>
            <a:ext cx="11064240" cy="1645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DFE5D9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6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457200" y="4754880"/>
            <a:ext cx="82296" cy="1645920"/>
          </a:xfrm>
          <a:prstGeom prst="roundRect">
            <a:avLst>
              <a:gd name="adj" fmla="val 44444"/>
            </a:avLst>
          </a:prstGeom>
          <a:solidFill>
            <a:srgbClr val="1C6B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85800" y="4892040"/>
            <a:ext cx="10716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B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this means for us</a:t>
            </a:r>
            <a:endParaRPr lang="en-US" sz="1500" dirty="0"/>
          </a:p>
        </p:txBody>
      </p:sp>
      <p:sp>
        <p:nvSpPr>
          <p:cNvPr id="59" name="Text 57"/>
          <p:cNvSpPr/>
          <p:nvPr/>
        </p:nvSpPr>
        <p:spPr>
          <a:xfrm>
            <a:off x="685800" y="5257800"/>
            <a:ext cx="1071676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6F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UPI removes friction (₹130 spray = one-tap purchase)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6F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Mobile-first discovery → diagnosis → purchase in-app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6F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D2C trust &gt; marketplace listings = higher repeat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6F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Content + commerce convergence → diagnosis-led flywheel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685800" y="6492240"/>
            <a:ext cx="10058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F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Sources: IBEF, NPCI, Statista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2E8"/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-2743200"/>
            <a:ext cx="7315200" cy="7315200"/>
          </a:xfrm>
          <a:prstGeom prst="ellipse">
            <a:avLst/>
          </a:prstGeom>
          <a:solidFill>
            <a:srgbClr val="1C6B44">
              <a:alpha val="1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-3657600"/>
            <a:ext cx="8229600" cy="8229600"/>
          </a:xfrm>
          <a:prstGeom prst="ellipse">
            <a:avLst/>
          </a:prstGeom>
          <a:solidFill>
            <a:srgbClr val="F6AD37">
              <a:alpha val="7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0" y="3657600"/>
            <a:ext cx="6400800" cy="6400800"/>
          </a:xfrm>
          <a:prstGeom prst="ellipse">
            <a:avLst/>
          </a:prstGeom>
          <a:solidFill>
            <a:srgbClr val="B1F24B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25977" y="4219489"/>
            <a:ext cx="155630" cy="155630"/>
          </a:xfrm>
          <a:prstGeom prst="ellipse">
            <a:avLst/>
          </a:prstGeom>
          <a:solidFill>
            <a:srgbClr val="1C6B44">
              <a:alpha val="19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086050" y="5040956"/>
            <a:ext cx="155737" cy="155737"/>
          </a:xfrm>
          <a:prstGeom prst="ellipse">
            <a:avLst/>
          </a:prstGeom>
          <a:solidFill>
            <a:srgbClr val="1C6B44">
              <a:alpha val="21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43333" y="4572954"/>
            <a:ext cx="144801" cy="144801"/>
          </a:xfrm>
          <a:prstGeom prst="ellipse">
            <a:avLst/>
          </a:prstGeom>
          <a:solidFill>
            <a:srgbClr val="1C6B44">
              <a:alpha val="11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324271" y="5271220"/>
            <a:ext cx="92195" cy="92195"/>
          </a:xfrm>
          <a:prstGeom prst="ellipse">
            <a:avLst/>
          </a:prstGeom>
          <a:solidFill>
            <a:srgbClr val="1C6B44">
              <a:alpha val="24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64627" y="3094176"/>
            <a:ext cx="73023" cy="73023"/>
          </a:xfrm>
          <a:prstGeom prst="ellipse">
            <a:avLst/>
          </a:prstGeom>
          <a:solidFill>
            <a:srgbClr val="1C6B44">
              <a:alpha val="13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902797" y="3198789"/>
            <a:ext cx="137555" cy="137555"/>
          </a:xfrm>
          <a:prstGeom prst="ellipse">
            <a:avLst/>
          </a:prstGeom>
          <a:solidFill>
            <a:srgbClr val="1C6B44">
              <a:alpha val="24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29831" y="5093923"/>
            <a:ext cx="120158" cy="120158"/>
          </a:xfrm>
          <a:prstGeom prst="ellipse">
            <a:avLst/>
          </a:prstGeom>
          <a:solidFill>
            <a:srgbClr val="1C6B44">
              <a:alpha val="11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856845" y="5126826"/>
            <a:ext cx="127581" cy="127581"/>
          </a:xfrm>
          <a:prstGeom prst="ellipse">
            <a:avLst/>
          </a:prstGeom>
          <a:solidFill>
            <a:srgbClr val="1C6B44">
              <a:alpha val="14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841342" y="2773358"/>
            <a:ext cx="153823" cy="153823"/>
          </a:xfrm>
          <a:prstGeom prst="ellipse">
            <a:avLst/>
          </a:prstGeom>
          <a:solidFill>
            <a:srgbClr val="1C6B44">
              <a:alpha val="24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20400" y="2250115"/>
            <a:ext cx="131372" cy="131372"/>
          </a:xfrm>
          <a:prstGeom prst="ellipse">
            <a:avLst/>
          </a:prstGeom>
          <a:solidFill>
            <a:srgbClr val="1C6B44">
              <a:alpha val="2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68444" y="914277"/>
            <a:ext cx="119325" cy="119325"/>
          </a:xfrm>
          <a:prstGeom prst="ellipse">
            <a:avLst/>
          </a:prstGeom>
          <a:solidFill>
            <a:srgbClr val="1C6B44">
              <a:alpha val="1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952039" y="1048906"/>
            <a:ext cx="61710" cy="61710"/>
          </a:xfrm>
          <a:prstGeom prst="ellipse">
            <a:avLst/>
          </a:prstGeom>
          <a:solidFill>
            <a:srgbClr val="1C6B44">
              <a:alpha val="23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C6B44"/>
          </a:solidFill>
          <a:ln/>
        </p:spPr>
      </p:sp>
      <p:sp>
        <p:nvSpPr>
          <p:cNvPr id="19" name="Shape 17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F6AD37">
              <a:alpha val="5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45720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2F2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Competitive Landscape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685800" y="10515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F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one in India combines all four layers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10515600" y="502920"/>
            <a:ext cx="1005840" cy="502920"/>
          </a:xfrm>
          <a:prstGeom prst="roundRect">
            <a:avLst>
              <a:gd name="adj" fmla="val 27273"/>
            </a:avLst>
          </a:prstGeom>
          <a:solidFill>
            <a:srgbClr val="1C6B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515600" y="50292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05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57200" y="1691640"/>
            <a:ext cx="2249424" cy="475488"/>
          </a:xfrm>
          <a:prstGeom prst="rect">
            <a:avLst/>
          </a:prstGeom>
          <a:solidFill>
            <a:srgbClr val="0F2F25"/>
          </a:solidFill>
          <a:ln w="6350">
            <a:solidFill>
              <a:srgbClr val="0F2F2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1691640"/>
            <a:ext cx="224942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Capability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06624" y="1691640"/>
            <a:ext cx="2249424" cy="475488"/>
          </a:xfrm>
          <a:prstGeom prst="rect">
            <a:avLst/>
          </a:prstGeom>
          <a:solidFill>
            <a:srgbClr val="0F2F25"/>
          </a:solidFill>
          <a:ln w="6350">
            <a:solidFill>
              <a:srgbClr val="0F2F2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06624" y="1691640"/>
            <a:ext cx="224942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E-commerce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956048" y="1691640"/>
            <a:ext cx="2249424" cy="475488"/>
          </a:xfrm>
          <a:prstGeom prst="rect">
            <a:avLst/>
          </a:prstGeom>
          <a:solidFill>
            <a:srgbClr val="0F2F25"/>
          </a:solidFill>
          <a:ln w="6350">
            <a:solidFill>
              <a:srgbClr val="0F2F2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56048" y="1691640"/>
            <a:ext cx="224942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Content Sites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205472" y="1691640"/>
            <a:ext cx="2249424" cy="475488"/>
          </a:xfrm>
          <a:prstGeom prst="rect">
            <a:avLst/>
          </a:prstGeom>
          <a:solidFill>
            <a:srgbClr val="0F2F25"/>
          </a:solidFill>
          <a:ln w="6350">
            <a:solidFill>
              <a:srgbClr val="0F2F2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205472" y="1691640"/>
            <a:ext cx="224942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Plant ID Apps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9454896" y="1691640"/>
            <a:ext cx="2249424" cy="475488"/>
          </a:xfrm>
          <a:prstGeom prst="rect">
            <a:avLst/>
          </a:prstGeom>
          <a:solidFill>
            <a:srgbClr val="1C6B44"/>
          </a:solidFill>
          <a:ln w="6350">
            <a:solidFill>
              <a:srgbClr val="0F2F2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454896" y="1691640"/>
            <a:ext cx="224942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Nursery Green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2167128"/>
            <a:ext cx="2249424" cy="475488"/>
          </a:xfrm>
          <a:prstGeom prst="rect">
            <a:avLst/>
          </a:prstGeom>
          <a:solidFill>
            <a:srgbClr val="F5F7F2"/>
          </a:solidFill>
          <a:ln w="6350">
            <a:solidFill>
              <a:srgbClr val="DFE5D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2167128"/>
            <a:ext cx="224942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B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Commerce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706624" y="2167128"/>
            <a:ext cx="2249424" cy="475488"/>
          </a:xfrm>
          <a:prstGeom prst="rect">
            <a:avLst/>
          </a:prstGeom>
          <a:solidFill>
            <a:srgbClr val="F5F7F2"/>
          </a:solidFill>
          <a:ln w="6350">
            <a:solidFill>
              <a:srgbClr val="DFE5D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06624" y="2167128"/>
            <a:ext cx="224942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6B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956048" y="2167128"/>
            <a:ext cx="2249424" cy="475488"/>
          </a:xfrm>
          <a:prstGeom prst="rect">
            <a:avLst/>
          </a:prstGeom>
          <a:solidFill>
            <a:srgbClr val="F5F7F2"/>
          </a:solidFill>
          <a:ln w="6350">
            <a:solidFill>
              <a:srgbClr val="DFE5D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56048" y="2167128"/>
            <a:ext cx="224942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5D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❌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205472" y="2167128"/>
            <a:ext cx="2249424" cy="475488"/>
          </a:xfrm>
          <a:prstGeom prst="rect">
            <a:avLst/>
          </a:prstGeom>
          <a:solidFill>
            <a:srgbClr val="F5F7F2"/>
          </a:solidFill>
          <a:ln w="6350">
            <a:solidFill>
              <a:srgbClr val="DFE5D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205472" y="2167128"/>
            <a:ext cx="224942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5D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❌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9454896" y="2167128"/>
            <a:ext cx="2249424" cy="475488"/>
          </a:xfrm>
          <a:prstGeom prst="rect">
            <a:avLst/>
          </a:prstGeom>
          <a:solidFill>
            <a:srgbClr val="E8F5E9"/>
          </a:solidFill>
          <a:ln w="6350">
            <a:solidFill>
              <a:srgbClr val="DFE5D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454896" y="2167128"/>
            <a:ext cx="224942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6B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57200" y="2642616"/>
            <a:ext cx="2249424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FE5D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7200" y="2642616"/>
            <a:ext cx="224942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B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Verified diagnosis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2706624" y="2642616"/>
            <a:ext cx="2249424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FE5D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706624" y="2642616"/>
            <a:ext cx="224942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5D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❌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956048" y="2642616"/>
            <a:ext cx="2249424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FE5D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956048" y="2642616"/>
            <a:ext cx="224942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5D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❌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7205472" y="2642616"/>
            <a:ext cx="2249424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FE5D9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205472" y="2642616"/>
            <a:ext cx="224942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B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Partial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9454896" y="2642616"/>
            <a:ext cx="2249424" cy="475488"/>
          </a:xfrm>
          <a:prstGeom prst="rect">
            <a:avLst/>
          </a:prstGeom>
          <a:solidFill>
            <a:srgbClr val="F1F8E9"/>
          </a:solidFill>
          <a:ln w="6350">
            <a:solidFill>
              <a:srgbClr val="DFE5D9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454896" y="2642616"/>
            <a:ext cx="224942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6B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457200" y="3118104"/>
            <a:ext cx="2249424" cy="475488"/>
          </a:xfrm>
          <a:prstGeom prst="rect">
            <a:avLst/>
          </a:prstGeom>
          <a:solidFill>
            <a:srgbClr val="F5F7F2"/>
          </a:solidFill>
          <a:ln w="6350">
            <a:solidFill>
              <a:srgbClr val="DFE5D9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57200" y="3118104"/>
            <a:ext cx="224942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B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Auto-refresh knowledge DB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2706624" y="3118104"/>
            <a:ext cx="2249424" cy="475488"/>
          </a:xfrm>
          <a:prstGeom prst="rect">
            <a:avLst/>
          </a:prstGeom>
          <a:solidFill>
            <a:srgbClr val="F5F7F2"/>
          </a:solidFill>
          <a:ln w="6350">
            <a:solidFill>
              <a:srgbClr val="DFE5D9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706624" y="3118104"/>
            <a:ext cx="224942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5D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❌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4956048" y="3118104"/>
            <a:ext cx="2249424" cy="475488"/>
          </a:xfrm>
          <a:prstGeom prst="rect">
            <a:avLst/>
          </a:prstGeom>
          <a:solidFill>
            <a:srgbClr val="F5F7F2"/>
          </a:solidFill>
          <a:ln w="6350">
            <a:solidFill>
              <a:srgbClr val="DFE5D9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956048" y="3118104"/>
            <a:ext cx="224942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5D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❌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7205472" y="3118104"/>
            <a:ext cx="2249424" cy="475488"/>
          </a:xfrm>
          <a:prstGeom prst="rect">
            <a:avLst/>
          </a:prstGeom>
          <a:solidFill>
            <a:srgbClr val="F5F7F2"/>
          </a:solidFill>
          <a:ln w="6350">
            <a:solidFill>
              <a:srgbClr val="DFE5D9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205472" y="3118104"/>
            <a:ext cx="224942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5D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❌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9454896" y="3118104"/>
            <a:ext cx="2249424" cy="475488"/>
          </a:xfrm>
          <a:prstGeom prst="rect">
            <a:avLst/>
          </a:prstGeom>
          <a:solidFill>
            <a:srgbClr val="E8F5E9"/>
          </a:solidFill>
          <a:ln w="6350">
            <a:solidFill>
              <a:srgbClr val="DFE5D9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454896" y="3118104"/>
            <a:ext cx="224942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6B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457200" y="3593592"/>
            <a:ext cx="2249424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FE5D9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57200" y="3593592"/>
            <a:ext cx="224942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B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Community + social proof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2706624" y="3593592"/>
            <a:ext cx="2249424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FE5D9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706624" y="3593592"/>
            <a:ext cx="224942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5D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❌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4956048" y="3593592"/>
            <a:ext cx="2249424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FE5D9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956048" y="3593592"/>
            <a:ext cx="224942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B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Partial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7205472" y="3593592"/>
            <a:ext cx="2249424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FE5D9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205472" y="3593592"/>
            <a:ext cx="224942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5D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❌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9454896" y="3593592"/>
            <a:ext cx="2249424" cy="475488"/>
          </a:xfrm>
          <a:prstGeom prst="rect">
            <a:avLst/>
          </a:prstGeom>
          <a:solidFill>
            <a:srgbClr val="F1F8E9"/>
          </a:solidFill>
          <a:ln w="6350">
            <a:solidFill>
              <a:srgbClr val="DFE5D9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9454896" y="3593592"/>
            <a:ext cx="224942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6B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457200" y="4069080"/>
            <a:ext cx="2249424" cy="475488"/>
          </a:xfrm>
          <a:prstGeom prst="rect">
            <a:avLst/>
          </a:prstGeom>
          <a:solidFill>
            <a:srgbClr val="F5F7F2"/>
          </a:solidFill>
          <a:ln w="6350">
            <a:solidFill>
              <a:srgbClr val="DFE5D9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57200" y="4069080"/>
            <a:ext cx="224942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B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India-specific remedies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2706624" y="4069080"/>
            <a:ext cx="2249424" cy="475488"/>
          </a:xfrm>
          <a:prstGeom prst="rect">
            <a:avLst/>
          </a:prstGeom>
          <a:solidFill>
            <a:srgbClr val="F5F7F2"/>
          </a:solidFill>
          <a:ln w="6350">
            <a:solidFill>
              <a:srgbClr val="DFE5D9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2706624" y="4069080"/>
            <a:ext cx="224942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5D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❌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4956048" y="4069080"/>
            <a:ext cx="2249424" cy="475488"/>
          </a:xfrm>
          <a:prstGeom prst="rect">
            <a:avLst/>
          </a:prstGeom>
          <a:solidFill>
            <a:srgbClr val="F5F7F2"/>
          </a:solidFill>
          <a:ln w="6350">
            <a:solidFill>
              <a:srgbClr val="DFE5D9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956048" y="4069080"/>
            <a:ext cx="224942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B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Partial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7205472" y="4069080"/>
            <a:ext cx="2249424" cy="475488"/>
          </a:xfrm>
          <a:prstGeom prst="rect">
            <a:avLst/>
          </a:prstGeom>
          <a:solidFill>
            <a:srgbClr val="F5F7F2"/>
          </a:solidFill>
          <a:ln w="6350">
            <a:solidFill>
              <a:srgbClr val="DFE5D9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7205472" y="4069080"/>
            <a:ext cx="224942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5D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❌</a:t>
            </a:r>
            <a:endParaRPr lang="en-US" sz="1000" dirty="0"/>
          </a:p>
        </p:txBody>
      </p:sp>
      <p:sp>
        <p:nvSpPr>
          <p:cNvPr id="82" name="Shape 80"/>
          <p:cNvSpPr/>
          <p:nvPr/>
        </p:nvSpPr>
        <p:spPr>
          <a:xfrm>
            <a:off x="9454896" y="4069080"/>
            <a:ext cx="2249424" cy="475488"/>
          </a:xfrm>
          <a:prstGeom prst="rect">
            <a:avLst/>
          </a:prstGeom>
          <a:solidFill>
            <a:srgbClr val="E8F5E9"/>
          </a:solidFill>
          <a:ln w="6350">
            <a:solidFill>
              <a:srgbClr val="DFE5D9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9454896" y="4069080"/>
            <a:ext cx="224942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6B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</a:t>
            </a:r>
            <a:endParaRPr lang="en-US" sz="1000" dirty="0"/>
          </a:p>
        </p:txBody>
      </p:sp>
      <p:sp>
        <p:nvSpPr>
          <p:cNvPr id="84" name="Shape 82"/>
          <p:cNvSpPr/>
          <p:nvPr/>
        </p:nvSpPr>
        <p:spPr>
          <a:xfrm>
            <a:off x="457200" y="4544568"/>
            <a:ext cx="2249424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FE5D9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57200" y="4544568"/>
            <a:ext cx="224942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B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Chat → Order</a:t>
            </a:r>
            <a:endParaRPr lang="en-US" sz="1000" dirty="0"/>
          </a:p>
        </p:txBody>
      </p:sp>
      <p:sp>
        <p:nvSpPr>
          <p:cNvPr id="86" name="Shape 84"/>
          <p:cNvSpPr/>
          <p:nvPr/>
        </p:nvSpPr>
        <p:spPr>
          <a:xfrm>
            <a:off x="2706624" y="4544568"/>
            <a:ext cx="2249424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FE5D9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2706624" y="4544568"/>
            <a:ext cx="224942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5D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❌</a:t>
            </a:r>
            <a:endParaRPr lang="en-US" sz="1000" dirty="0"/>
          </a:p>
        </p:txBody>
      </p:sp>
      <p:sp>
        <p:nvSpPr>
          <p:cNvPr id="88" name="Shape 86"/>
          <p:cNvSpPr/>
          <p:nvPr/>
        </p:nvSpPr>
        <p:spPr>
          <a:xfrm>
            <a:off x="4956048" y="4544568"/>
            <a:ext cx="2249424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FE5D9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956048" y="4544568"/>
            <a:ext cx="224942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5D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❌</a:t>
            </a:r>
            <a:endParaRPr lang="en-US" sz="1000" dirty="0"/>
          </a:p>
        </p:txBody>
      </p:sp>
      <p:sp>
        <p:nvSpPr>
          <p:cNvPr id="90" name="Shape 88"/>
          <p:cNvSpPr/>
          <p:nvPr/>
        </p:nvSpPr>
        <p:spPr>
          <a:xfrm>
            <a:off x="7205472" y="4544568"/>
            <a:ext cx="2249424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FE5D9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7205472" y="4544568"/>
            <a:ext cx="224942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5D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❌</a:t>
            </a:r>
            <a:endParaRPr lang="en-US" sz="1000" dirty="0"/>
          </a:p>
        </p:txBody>
      </p:sp>
      <p:sp>
        <p:nvSpPr>
          <p:cNvPr id="92" name="Shape 90"/>
          <p:cNvSpPr/>
          <p:nvPr/>
        </p:nvSpPr>
        <p:spPr>
          <a:xfrm>
            <a:off x="9454896" y="4544568"/>
            <a:ext cx="2249424" cy="475488"/>
          </a:xfrm>
          <a:prstGeom prst="rect">
            <a:avLst/>
          </a:prstGeom>
          <a:solidFill>
            <a:srgbClr val="F1F8E9"/>
          </a:solidFill>
          <a:ln w="6350">
            <a:solidFill>
              <a:srgbClr val="DFE5D9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9454896" y="4544568"/>
            <a:ext cx="224942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6B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</a:t>
            </a:r>
            <a:endParaRPr lang="en-US" sz="1000" dirty="0"/>
          </a:p>
        </p:txBody>
      </p:sp>
      <p:sp>
        <p:nvSpPr>
          <p:cNvPr id="94" name="Shape 92"/>
          <p:cNvSpPr/>
          <p:nvPr/>
        </p:nvSpPr>
        <p:spPr>
          <a:xfrm>
            <a:off x="457200" y="5020056"/>
            <a:ext cx="2249424" cy="475488"/>
          </a:xfrm>
          <a:prstGeom prst="rect">
            <a:avLst/>
          </a:prstGeom>
          <a:solidFill>
            <a:srgbClr val="F5F7F2"/>
          </a:solidFill>
          <a:ln w="6350">
            <a:solidFill>
              <a:srgbClr val="DFE5D9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457200" y="5020056"/>
            <a:ext cx="224942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B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Leaf + soil + env verification</a:t>
            </a:r>
            <a:endParaRPr lang="en-US" sz="1000" dirty="0"/>
          </a:p>
        </p:txBody>
      </p:sp>
      <p:sp>
        <p:nvSpPr>
          <p:cNvPr id="96" name="Shape 94"/>
          <p:cNvSpPr/>
          <p:nvPr/>
        </p:nvSpPr>
        <p:spPr>
          <a:xfrm>
            <a:off x="2706624" y="5020056"/>
            <a:ext cx="2249424" cy="475488"/>
          </a:xfrm>
          <a:prstGeom prst="rect">
            <a:avLst/>
          </a:prstGeom>
          <a:solidFill>
            <a:srgbClr val="F5F7F2"/>
          </a:solidFill>
          <a:ln w="6350">
            <a:solidFill>
              <a:srgbClr val="DFE5D9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2706624" y="5020056"/>
            <a:ext cx="224942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5D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❌</a:t>
            </a:r>
            <a:endParaRPr lang="en-US" sz="1000" dirty="0"/>
          </a:p>
        </p:txBody>
      </p:sp>
      <p:sp>
        <p:nvSpPr>
          <p:cNvPr id="98" name="Shape 96"/>
          <p:cNvSpPr/>
          <p:nvPr/>
        </p:nvSpPr>
        <p:spPr>
          <a:xfrm>
            <a:off x="4956048" y="5020056"/>
            <a:ext cx="2249424" cy="475488"/>
          </a:xfrm>
          <a:prstGeom prst="rect">
            <a:avLst/>
          </a:prstGeom>
          <a:solidFill>
            <a:srgbClr val="F5F7F2"/>
          </a:solidFill>
          <a:ln w="6350">
            <a:solidFill>
              <a:srgbClr val="DFE5D9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4956048" y="5020056"/>
            <a:ext cx="224942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5D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❌</a:t>
            </a:r>
            <a:endParaRPr lang="en-US" sz="1000" dirty="0"/>
          </a:p>
        </p:txBody>
      </p:sp>
      <p:sp>
        <p:nvSpPr>
          <p:cNvPr id="100" name="Shape 98"/>
          <p:cNvSpPr/>
          <p:nvPr/>
        </p:nvSpPr>
        <p:spPr>
          <a:xfrm>
            <a:off x="7205472" y="5020056"/>
            <a:ext cx="2249424" cy="475488"/>
          </a:xfrm>
          <a:prstGeom prst="rect">
            <a:avLst/>
          </a:prstGeom>
          <a:solidFill>
            <a:srgbClr val="F5F7F2"/>
          </a:solidFill>
          <a:ln w="6350">
            <a:solidFill>
              <a:srgbClr val="DFE5D9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7205472" y="5020056"/>
            <a:ext cx="224942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5D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❌</a:t>
            </a:r>
            <a:endParaRPr lang="en-US" sz="1000" dirty="0"/>
          </a:p>
        </p:txBody>
      </p:sp>
      <p:sp>
        <p:nvSpPr>
          <p:cNvPr id="102" name="Shape 100"/>
          <p:cNvSpPr/>
          <p:nvPr/>
        </p:nvSpPr>
        <p:spPr>
          <a:xfrm>
            <a:off x="9454896" y="5020056"/>
            <a:ext cx="2249424" cy="475488"/>
          </a:xfrm>
          <a:prstGeom prst="rect">
            <a:avLst/>
          </a:prstGeom>
          <a:solidFill>
            <a:srgbClr val="E8F5E9"/>
          </a:solidFill>
          <a:ln w="6350">
            <a:solidFill>
              <a:srgbClr val="DFE5D9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9454896" y="5020056"/>
            <a:ext cx="224942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6B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</a:t>
            </a:r>
            <a:endParaRPr lang="en-US" sz="1000" dirty="0"/>
          </a:p>
        </p:txBody>
      </p:sp>
      <p:sp>
        <p:nvSpPr>
          <p:cNvPr id="104" name="Shape 102"/>
          <p:cNvSpPr/>
          <p:nvPr/>
        </p:nvSpPr>
        <p:spPr>
          <a:xfrm>
            <a:off x="457200" y="5495544"/>
            <a:ext cx="2249424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FE5D9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457200" y="5495544"/>
            <a:ext cx="224942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B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Diagnosis audit trail</a:t>
            </a:r>
            <a:endParaRPr lang="en-US" sz="1000" dirty="0"/>
          </a:p>
        </p:txBody>
      </p:sp>
      <p:sp>
        <p:nvSpPr>
          <p:cNvPr id="106" name="Shape 104"/>
          <p:cNvSpPr/>
          <p:nvPr/>
        </p:nvSpPr>
        <p:spPr>
          <a:xfrm>
            <a:off x="2706624" y="5495544"/>
            <a:ext cx="2249424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FE5D9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2706624" y="5495544"/>
            <a:ext cx="224942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5D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❌</a:t>
            </a:r>
            <a:endParaRPr lang="en-US" sz="1000" dirty="0"/>
          </a:p>
        </p:txBody>
      </p:sp>
      <p:sp>
        <p:nvSpPr>
          <p:cNvPr id="108" name="Shape 106"/>
          <p:cNvSpPr/>
          <p:nvPr/>
        </p:nvSpPr>
        <p:spPr>
          <a:xfrm>
            <a:off x="4956048" y="5495544"/>
            <a:ext cx="2249424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FE5D9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4956048" y="5495544"/>
            <a:ext cx="224942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5D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❌</a:t>
            </a:r>
            <a:endParaRPr lang="en-US" sz="1000" dirty="0"/>
          </a:p>
        </p:txBody>
      </p:sp>
      <p:sp>
        <p:nvSpPr>
          <p:cNvPr id="110" name="Shape 108"/>
          <p:cNvSpPr/>
          <p:nvPr/>
        </p:nvSpPr>
        <p:spPr>
          <a:xfrm>
            <a:off x="7205472" y="5495544"/>
            <a:ext cx="2249424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FE5D9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7205472" y="5495544"/>
            <a:ext cx="224942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5D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❌</a:t>
            </a:r>
            <a:endParaRPr lang="en-US" sz="1000" dirty="0"/>
          </a:p>
        </p:txBody>
      </p:sp>
      <p:sp>
        <p:nvSpPr>
          <p:cNvPr id="112" name="Shape 110"/>
          <p:cNvSpPr/>
          <p:nvPr/>
        </p:nvSpPr>
        <p:spPr>
          <a:xfrm>
            <a:off x="9454896" y="5495544"/>
            <a:ext cx="2249424" cy="475488"/>
          </a:xfrm>
          <a:prstGeom prst="rect">
            <a:avLst/>
          </a:prstGeom>
          <a:solidFill>
            <a:srgbClr val="F1F8E9"/>
          </a:solidFill>
          <a:ln w="6350">
            <a:solidFill>
              <a:srgbClr val="DFE5D9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9454896" y="5495544"/>
            <a:ext cx="224942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6B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</a:t>
            </a:r>
            <a:endParaRPr lang="en-US" sz="1000" dirty="0"/>
          </a:p>
        </p:txBody>
      </p:sp>
      <p:sp>
        <p:nvSpPr>
          <p:cNvPr id="114" name="Shape 112"/>
          <p:cNvSpPr/>
          <p:nvPr/>
        </p:nvSpPr>
        <p:spPr>
          <a:xfrm>
            <a:off x="457200" y="5806440"/>
            <a:ext cx="11247120" cy="640080"/>
          </a:xfrm>
          <a:prstGeom prst="roundRect">
            <a:avLst>
              <a:gd name="adj" fmla="val 21429"/>
            </a:avLst>
          </a:prstGeom>
          <a:solidFill>
            <a:srgbClr val="1C6B44">
              <a:alpha val="10000"/>
            </a:srgbClr>
          </a:solidFill>
          <a:ln w="12700">
            <a:solidFill>
              <a:srgbClr val="1C6B44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640080" y="580644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6B4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🔑 Key: Verification-first diagnosis  •  100+ desi remedies  •  Closed-loop data flywheel  •  Chat-to-cart</a:t>
            </a:r>
            <a:endParaRPr lang="en-US" sz="1300" dirty="0"/>
          </a:p>
        </p:txBody>
      </p:sp>
      <p:sp>
        <p:nvSpPr>
          <p:cNvPr id="116" name="Text 114"/>
          <p:cNvSpPr/>
          <p:nvPr/>
        </p:nvSpPr>
        <p:spPr>
          <a:xfrm>
            <a:off x="685800" y="6492240"/>
            <a:ext cx="10058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F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Nursery Green — Only platform with all 8 capabilities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F25"/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-2743200"/>
            <a:ext cx="7315200" cy="7315200"/>
          </a:xfrm>
          <a:prstGeom prst="ellipse">
            <a:avLst/>
          </a:prstGeom>
          <a:solidFill>
            <a:srgbClr val="1C6B44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-3657600"/>
            <a:ext cx="8229600" cy="8229600"/>
          </a:xfrm>
          <a:prstGeom prst="ellipse">
            <a:avLst/>
          </a:prstGeom>
          <a:solidFill>
            <a:srgbClr val="B1F24B">
              <a:alpha val="7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0" y="3657600"/>
            <a:ext cx="6400800" cy="6400800"/>
          </a:xfrm>
          <a:prstGeom prst="ellipse">
            <a:avLst/>
          </a:prstGeom>
          <a:solidFill>
            <a:srgbClr val="F6AD37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3851" y="1325760"/>
            <a:ext cx="79958" cy="79958"/>
          </a:xfrm>
          <a:prstGeom prst="ellipse">
            <a:avLst/>
          </a:prstGeom>
          <a:solidFill>
            <a:srgbClr val="B1F24B">
              <a:alpha val="17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89245" y="2462435"/>
            <a:ext cx="112869" cy="112869"/>
          </a:xfrm>
          <a:prstGeom prst="ellipse">
            <a:avLst/>
          </a:prstGeom>
          <a:solidFill>
            <a:srgbClr val="B1F24B">
              <a:alpha val="1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06147" y="1053305"/>
            <a:ext cx="71307" cy="71307"/>
          </a:xfrm>
          <a:prstGeom prst="ellipse">
            <a:avLst/>
          </a:prstGeom>
          <a:solidFill>
            <a:srgbClr val="B1F24B">
              <a:alpha val="2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250375" y="4050760"/>
            <a:ext cx="114205" cy="114205"/>
          </a:xfrm>
          <a:prstGeom prst="ellipse">
            <a:avLst/>
          </a:prstGeom>
          <a:solidFill>
            <a:srgbClr val="B1F24B">
              <a:alpha val="14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43008" y="1108676"/>
            <a:ext cx="114774" cy="114774"/>
          </a:xfrm>
          <a:prstGeom prst="ellipse">
            <a:avLst/>
          </a:prstGeom>
          <a:solidFill>
            <a:srgbClr val="B1F24B">
              <a:alpha val="14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047700" y="3124330"/>
            <a:ext cx="63391" cy="63391"/>
          </a:xfrm>
          <a:prstGeom prst="ellipse">
            <a:avLst/>
          </a:prstGeom>
          <a:solidFill>
            <a:srgbClr val="B1F24B">
              <a:alpha val="2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814548" y="3787342"/>
            <a:ext cx="147620" cy="147620"/>
          </a:xfrm>
          <a:prstGeom prst="ellipse">
            <a:avLst/>
          </a:prstGeom>
          <a:solidFill>
            <a:srgbClr val="B1F24B">
              <a:alpha val="1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73930" y="5684294"/>
            <a:ext cx="140297" cy="140297"/>
          </a:xfrm>
          <a:prstGeom prst="ellipse">
            <a:avLst/>
          </a:prstGeom>
          <a:solidFill>
            <a:srgbClr val="B1F24B">
              <a:alpha val="2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702084" y="4924350"/>
            <a:ext cx="87350" cy="87350"/>
          </a:xfrm>
          <a:prstGeom prst="ellipse">
            <a:avLst/>
          </a:prstGeom>
          <a:solidFill>
            <a:srgbClr val="B1F24B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620205" y="4031700"/>
            <a:ext cx="57305" cy="57305"/>
          </a:xfrm>
          <a:prstGeom prst="ellipse">
            <a:avLst/>
          </a:prstGeom>
          <a:solidFill>
            <a:srgbClr val="B1F24B">
              <a:alpha val="2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18927" y="1072921"/>
            <a:ext cx="83531" cy="83531"/>
          </a:xfrm>
          <a:prstGeom prst="ellipse">
            <a:avLst/>
          </a:prstGeom>
          <a:solidFill>
            <a:srgbClr val="B1F24B">
              <a:alpha val="23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14037" y="2337990"/>
            <a:ext cx="105065" cy="105065"/>
          </a:xfrm>
          <a:prstGeom prst="ellipse">
            <a:avLst/>
          </a:prstGeom>
          <a:solidFill>
            <a:srgbClr val="B1F24B">
              <a:alpha val="23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1F24B"/>
          </a:solidFill>
          <a:ln/>
        </p:spPr>
      </p:sp>
      <p:sp>
        <p:nvSpPr>
          <p:cNvPr id="19" name="Shape 17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F6AD37">
              <a:alpha val="5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45720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Data Flywheel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685800" y="10515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DDD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interaction makes the platform smarter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10515600" y="502920"/>
            <a:ext cx="1005840" cy="502920"/>
          </a:xfrm>
          <a:prstGeom prst="roundRect">
            <a:avLst>
              <a:gd name="adj" fmla="val 27273"/>
            </a:avLst>
          </a:prstGeom>
          <a:solidFill>
            <a:srgbClr val="1C6B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515600" y="50292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06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2011680" y="1600200"/>
            <a:ext cx="4937760" cy="4937760"/>
          </a:xfrm>
          <a:prstGeom prst="ellipse">
            <a:avLst/>
          </a:prstGeom>
          <a:solidFill>
            <a:srgbClr val="1C6B44">
              <a:alpha val="1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3063240"/>
            <a:ext cx="2011680" cy="2011680"/>
          </a:xfrm>
          <a:prstGeom prst="ellipse">
            <a:avLst/>
          </a:prstGeom>
          <a:solidFill>
            <a:srgbClr val="0F2F25"/>
          </a:solidFill>
          <a:ln w="25400">
            <a:solidFill>
              <a:srgbClr val="B1F24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0" y="3383280"/>
            <a:ext cx="2011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1F2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TRUST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B1F2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B1F2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REPEAT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160520" y="1554480"/>
            <a:ext cx="640080" cy="640080"/>
          </a:xfrm>
          <a:prstGeom prst="ellipse">
            <a:avLst/>
          </a:prstGeom>
          <a:solidFill>
            <a:srgbClr val="B1F24B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224528" y="1618488"/>
            <a:ext cx="512064" cy="512064"/>
          </a:xfrm>
          <a:prstGeom prst="ellipse">
            <a:avLst/>
          </a:prstGeom>
          <a:solidFill>
            <a:srgbClr val="B1F2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60520" y="1586484"/>
            <a:ext cx="64008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📷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3886200" y="86868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Scan / Ask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061065" y="2651760"/>
            <a:ext cx="640080" cy="640080"/>
          </a:xfrm>
          <a:prstGeom prst="ellipse">
            <a:avLst/>
          </a:prstGeom>
          <a:solidFill>
            <a:srgbClr val="14B8A6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125073" y="2715768"/>
            <a:ext cx="512064" cy="51206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061065" y="2683764"/>
            <a:ext cx="64008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✅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6459854" y="235458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(leaf/soil/env)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061065" y="4846320"/>
            <a:ext cx="640080" cy="640080"/>
          </a:xfrm>
          <a:prstGeom prst="ellipse">
            <a:avLst/>
          </a:prstGeom>
          <a:solidFill>
            <a:srgbClr val="4A90D9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125073" y="4910328"/>
            <a:ext cx="512064" cy="512064"/>
          </a:xfrm>
          <a:prstGeom prst="ellipse">
            <a:avLst/>
          </a:prstGeom>
          <a:solidFill>
            <a:srgbClr val="4A9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061065" y="4878324"/>
            <a:ext cx="64008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🧠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6459854" y="532638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Diagnosis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Plan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160520" y="5943600"/>
            <a:ext cx="640080" cy="640080"/>
          </a:xfrm>
          <a:prstGeom prst="ellipse">
            <a:avLst/>
          </a:prstGeom>
          <a:solidFill>
            <a:srgbClr val="F6AD37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224528" y="6007608"/>
            <a:ext cx="512064" cy="512064"/>
          </a:xfrm>
          <a:prstGeom prst="ellipse">
            <a:avLst/>
          </a:prstGeom>
          <a:solidFill>
            <a:srgbClr val="F6AD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160520" y="5975604"/>
            <a:ext cx="64008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🛒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3886200" y="681228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Treatment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259975" y="4846320"/>
            <a:ext cx="640080" cy="640080"/>
          </a:xfrm>
          <a:prstGeom prst="ellipse">
            <a:avLst/>
          </a:prstGeom>
          <a:solidFill>
            <a:srgbClr val="8B5CF6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323983" y="4910328"/>
            <a:ext cx="512064" cy="512064"/>
          </a:xfrm>
          <a:prstGeom prst="ellipse">
            <a:avLst/>
          </a:prstGeom>
          <a:solidFill>
            <a:srgbClr val="8B5C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259975" y="4878324"/>
            <a:ext cx="64008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📊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1312546" y="532638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 Case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Outcome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2259975" y="2651760"/>
            <a:ext cx="640080" cy="640080"/>
          </a:xfrm>
          <a:prstGeom prst="ellipse">
            <a:avLst/>
          </a:prstGeom>
          <a:solidFill>
            <a:srgbClr val="1C6B44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323983" y="2715768"/>
            <a:ext cx="512064" cy="512064"/>
          </a:xfrm>
          <a:prstGeom prst="ellipse">
            <a:avLst/>
          </a:prstGeom>
          <a:solidFill>
            <a:srgbClr val="1C6B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259975" y="2683764"/>
            <a:ext cx="64008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🔄</a:t>
            </a:r>
            <a:endParaRPr lang="en-US" sz="1500" dirty="0"/>
          </a:p>
        </p:txBody>
      </p:sp>
      <p:sp>
        <p:nvSpPr>
          <p:cNvPr id="50" name="Text 48"/>
          <p:cNvSpPr/>
          <p:nvPr/>
        </p:nvSpPr>
        <p:spPr>
          <a:xfrm>
            <a:off x="1312546" y="235458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Knowledge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Improves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8778240" y="1828800"/>
            <a:ext cx="283464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DFE5D9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6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8778240" y="1828800"/>
            <a:ext cx="82296" cy="1371600"/>
          </a:xfrm>
          <a:prstGeom prst="roundRect">
            <a:avLst>
              <a:gd name="adj" fmla="val 44444"/>
            </a:avLst>
          </a:prstGeom>
          <a:solidFill>
            <a:srgbClr val="B1F2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006840" y="1965960"/>
            <a:ext cx="2487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B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100K+ cases</a:t>
            </a:r>
            <a:endParaRPr lang="en-US" sz="1500" dirty="0"/>
          </a:p>
        </p:txBody>
      </p:sp>
      <p:sp>
        <p:nvSpPr>
          <p:cNvPr id="54" name="Text 52"/>
          <p:cNvSpPr/>
          <p:nvPr/>
        </p:nvSpPr>
        <p:spPr>
          <a:xfrm>
            <a:off x="9006840" y="2331720"/>
            <a:ext cx="24871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6F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After 100K diagnosis logs, our India-specific plant health dataset will be unmatched.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8778240" y="3383280"/>
            <a:ext cx="283464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DFE5D9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6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8778240" y="3383280"/>
            <a:ext cx="82296" cy="1371600"/>
          </a:xfrm>
          <a:prstGeom prst="roundRect">
            <a:avLst>
              <a:gd name="adj" fmla="val 44444"/>
            </a:avLst>
          </a:prstGeom>
          <a:solidFill>
            <a:srgbClr val="14B8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006840" y="3520440"/>
            <a:ext cx="2487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B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Compounding</a:t>
            </a:r>
            <a:endParaRPr lang="en-US" sz="1500" dirty="0"/>
          </a:p>
        </p:txBody>
      </p:sp>
      <p:sp>
        <p:nvSpPr>
          <p:cNvPr id="58" name="Text 56"/>
          <p:cNvSpPr/>
          <p:nvPr/>
        </p:nvSpPr>
        <p:spPr>
          <a:xfrm>
            <a:off x="9006840" y="3886200"/>
            <a:ext cx="24871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6F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Better accuracy → higher conversion → more data → lower CAC.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8778240" y="4937760"/>
            <a:ext cx="283464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DFE5D9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6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8778240" y="4937760"/>
            <a:ext cx="82296" cy="1371600"/>
          </a:xfrm>
          <a:prstGeom prst="roundRect">
            <a:avLst>
              <a:gd name="adj" fmla="val 44444"/>
            </a:avLst>
          </a:prstGeom>
          <a:solidFill>
            <a:srgbClr val="F6AD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9006840" y="5074920"/>
            <a:ext cx="2487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B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Defensible</a:t>
            </a:r>
            <a:endParaRPr lang="en-US" sz="1500" dirty="0"/>
          </a:p>
        </p:txBody>
      </p:sp>
      <p:sp>
        <p:nvSpPr>
          <p:cNvPr id="62" name="Text 60"/>
          <p:cNvSpPr/>
          <p:nvPr/>
        </p:nvSpPr>
        <p:spPr>
          <a:xfrm>
            <a:off x="9006840" y="5440680"/>
            <a:ext cx="24871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6F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Integration depth + data flywheel is impossible to clone quickly.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685800" y="6492240"/>
            <a:ext cx="10058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Powered by verification-first inputs — leaf + soil + environment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2E8"/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-2743200"/>
            <a:ext cx="7315200" cy="7315200"/>
          </a:xfrm>
          <a:prstGeom prst="ellipse">
            <a:avLst/>
          </a:prstGeom>
          <a:solidFill>
            <a:srgbClr val="1C6B44">
              <a:alpha val="1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-3657600"/>
            <a:ext cx="8229600" cy="8229600"/>
          </a:xfrm>
          <a:prstGeom prst="ellipse">
            <a:avLst/>
          </a:prstGeom>
          <a:solidFill>
            <a:srgbClr val="F6AD37">
              <a:alpha val="7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0" y="3657600"/>
            <a:ext cx="6400800" cy="6400800"/>
          </a:xfrm>
          <a:prstGeom prst="ellipse">
            <a:avLst/>
          </a:prstGeom>
          <a:solidFill>
            <a:srgbClr val="B1F24B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776094" y="1495619"/>
            <a:ext cx="68301" cy="68301"/>
          </a:xfrm>
          <a:prstGeom prst="ellipse">
            <a:avLst/>
          </a:prstGeom>
          <a:solidFill>
            <a:srgbClr val="1C6B44">
              <a:alpha val="13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106910" y="5504281"/>
            <a:ext cx="66036" cy="66036"/>
          </a:xfrm>
          <a:prstGeom prst="ellipse">
            <a:avLst/>
          </a:prstGeom>
          <a:solidFill>
            <a:srgbClr val="1C6B44">
              <a:alpha val="1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49632" y="1302343"/>
            <a:ext cx="116377" cy="116377"/>
          </a:xfrm>
          <a:prstGeom prst="ellipse">
            <a:avLst/>
          </a:prstGeom>
          <a:solidFill>
            <a:srgbClr val="1C6B44">
              <a:alpha val="19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77106" y="3474731"/>
            <a:ext cx="76696" cy="76696"/>
          </a:xfrm>
          <a:prstGeom prst="ellipse">
            <a:avLst/>
          </a:prstGeom>
          <a:solidFill>
            <a:srgbClr val="1C6B44">
              <a:alpha val="11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40250" y="2874694"/>
            <a:ext cx="67489" cy="67489"/>
          </a:xfrm>
          <a:prstGeom prst="ellipse">
            <a:avLst/>
          </a:prstGeom>
          <a:solidFill>
            <a:srgbClr val="1C6B44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15222" y="5567182"/>
            <a:ext cx="155271" cy="155271"/>
          </a:xfrm>
          <a:prstGeom prst="ellipse">
            <a:avLst/>
          </a:prstGeom>
          <a:solidFill>
            <a:srgbClr val="1C6B44">
              <a:alpha val="1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91299" y="4376630"/>
            <a:ext cx="58404" cy="58404"/>
          </a:xfrm>
          <a:prstGeom prst="ellipse">
            <a:avLst/>
          </a:prstGeom>
          <a:solidFill>
            <a:srgbClr val="1C6B44">
              <a:alpha val="2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306514" y="5172653"/>
            <a:ext cx="162310" cy="162310"/>
          </a:xfrm>
          <a:prstGeom prst="ellipse">
            <a:avLst/>
          </a:prstGeom>
          <a:solidFill>
            <a:srgbClr val="1C6B44">
              <a:alpha val="24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817365" y="909282"/>
            <a:ext cx="90180" cy="90180"/>
          </a:xfrm>
          <a:prstGeom prst="ellipse">
            <a:avLst/>
          </a:prstGeom>
          <a:solidFill>
            <a:srgbClr val="1C6B44">
              <a:alpha val="17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248405" y="3738204"/>
            <a:ext cx="129240" cy="129240"/>
          </a:xfrm>
          <a:prstGeom prst="ellipse">
            <a:avLst/>
          </a:prstGeom>
          <a:solidFill>
            <a:srgbClr val="1C6B44">
              <a:alpha val="11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237699" y="729923"/>
            <a:ext cx="153455" cy="153455"/>
          </a:xfrm>
          <a:prstGeom prst="ellipse">
            <a:avLst/>
          </a:prstGeom>
          <a:solidFill>
            <a:srgbClr val="1C6B44">
              <a:alpha val="1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49087" y="3162243"/>
            <a:ext cx="73428" cy="73428"/>
          </a:xfrm>
          <a:prstGeom prst="ellipse">
            <a:avLst/>
          </a:prstGeom>
          <a:solidFill>
            <a:srgbClr val="1C6B44">
              <a:alpha val="1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C6B44"/>
          </a:solidFill>
          <a:ln/>
        </p:spPr>
      </p:sp>
      <p:sp>
        <p:nvSpPr>
          <p:cNvPr id="19" name="Shape 17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F6AD37">
              <a:alpha val="5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45720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2F2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Business Model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685800" y="10515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F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Subscription layered over repeat D2C commerce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10515600" y="502920"/>
            <a:ext cx="1005840" cy="502920"/>
          </a:xfrm>
          <a:prstGeom prst="roundRect">
            <a:avLst>
              <a:gd name="adj" fmla="val 27273"/>
            </a:avLst>
          </a:prstGeom>
          <a:solidFill>
            <a:srgbClr val="1C6B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515600" y="50292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07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57200" y="1828800"/>
            <a:ext cx="3566160" cy="105156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6350">
            <a:solidFill>
              <a:srgbClr val="DFE5D9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4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1792" y="2148840"/>
            <a:ext cx="402336" cy="402336"/>
          </a:xfrm>
          <a:prstGeom prst="ellipse">
            <a:avLst/>
          </a:prstGeom>
          <a:solidFill>
            <a:srgbClr val="1C6B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15568" y="193852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B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D2C Products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115568" y="224028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F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GM: 45–55%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834640" y="224028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1C6B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834640" y="22402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Live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251960" y="1828800"/>
            <a:ext cx="3566160" cy="105156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6350">
            <a:solidFill>
              <a:srgbClr val="DFE5D9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4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416552" y="2148840"/>
            <a:ext cx="402336" cy="402336"/>
          </a:xfrm>
          <a:prstGeom prst="ellipse">
            <a:avLst/>
          </a:prstGeom>
          <a:solidFill>
            <a:srgbClr val="4A9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10328" y="193852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B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Subscription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910328" y="224028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F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GM: 80–90%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629400" y="224028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F6AD37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29400" y="22402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2F2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Q3 2026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8046720" y="1828800"/>
            <a:ext cx="3566160" cy="105156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6350">
            <a:solidFill>
              <a:srgbClr val="DFE5D9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4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8211312" y="2148840"/>
            <a:ext cx="402336" cy="40233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705088" y="193852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B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B2B / B2B2C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8705088" y="224028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F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GM: 60–70%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10424160" y="224028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F6AD37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424160" y="22402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2F2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2027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57200" y="3063240"/>
            <a:ext cx="3566160" cy="105156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6350">
            <a:solidFill>
              <a:srgbClr val="DFE5D9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4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21792" y="3383280"/>
            <a:ext cx="402336" cy="402336"/>
          </a:xfrm>
          <a:prstGeom prst="ellipse">
            <a:avLst/>
          </a:prstGeom>
          <a:solidFill>
            <a:srgbClr val="F6AD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115568" y="317296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B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Marketplace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1115568" y="34747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F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GM: 15–25%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2834640" y="347472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F6AD37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834640" y="34747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2F2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2027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251960" y="3063240"/>
            <a:ext cx="3566160" cy="105156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6350">
            <a:solidFill>
              <a:srgbClr val="DFE5D9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4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4416552" y="3383280"/>
            <a:ext cx="402336" cy="402336"/>
          </a:xfrm>
          <a:prstGeom prst="ellipse">
            <a:avLst/>
          </a:prstGeom>
          <a:solidFill>
            <a:srgbClr val="8B5C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10328" y="317296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B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Affiliate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4910328" y="34747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F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GM: 70–80%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629400" y="347472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F6AD37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629400" y="34747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2F2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2027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8046720" y="3063240"/>
            <a:ext cx="3566160" cy="105156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6350">
            <a:solidFill>
              <a:srgbClr val="DFE5D9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4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8211312" y="3383280"/>
            <a:ext cx="402336" cy="402336"/>
          </a:xfrm>
          <a:prstGeom prst="ellipse">
            <a:avLst/>
          </a:prstGeom>
          <a:solidFill>
            <a:srgbClr val="EC489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705088" y="317296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B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Data &amp; Insights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8705088" y="34747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F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GM: 90%+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10424160" y="347472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F6AD37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0424160" y="34747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2F2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2028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457200" y="4480560"/>
            <a:ext cx="5486400" cy="18288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6350">
            <a:solidFill>
              <a:srgbClr val="DFE5D9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6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457200" y="4480560"/>
            <a:ext cx="82296" cy="1828800"/>
          </a:xfrm>
          <a:prstGeom prst="roundRect">
            <a:avLst>
              <a:gd name="adj" fmla="val 44444"/>
            </a:avLst>
          </a:prstGeom>
          <a:solidFill>
            <a:srgbClr val="1C6B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85800" y="4617720"/>
            <a:ext cx="5138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B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Unit Economics (Target)</a:t>
            </a:r>
            <a:endParaRPr lang="en-US" sz="1500" dirty="0"/>
          </a:p>
        </p:txBody>
      </p:sp>
      <p:sp>
        <p:nvSpPr>
          <p:cNvPr id="63" name="Text 61"/>
          <p:cNvSpPr/>
          <p:nvPr/>
        </p:nvSpPr>
        <p:spPr>
          <a:xfrm>
            <a:off x="685800" y="4983480"/>
            <a:ext cx="513892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6F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AOV: ₹650–₹1,200  •  Repeat: 4–8×/yr  •  CAC: ₹150–₹400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6F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Payback: &lt;6 mo  •  Blended GM: 55–62%  •  LTV:CAC &gt; 4:1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6172200" y="4480560"/>
            <a:ext cx="5349240" cy="18288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6350">
            <a:solidFill>
              <a:srgbClr val="DFE5D9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6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6172200" y="4480560"/>
            <a:ext cx="82296" cy="1828800"/>
          </a:xfrm>
          <a:prstGeom prst="roundRect">
            <a:avLst>
              <a:gd name="adj" fmla="val 44444"/>
            </a:avLst>
          </a:prstGeom>
          <a:solidFill>
            <a:srgbClr val="4A9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400800" y="4617720"/>
            <a:ext cx="5001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B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Revenue Mix Evolution</a:t>
            </a:r>
            <a:endParaRPr lang="en-US" sz="1500" dirty="0"/>
          </a:p>
        </p:txBody>
      </p:sp>
      <p:sp>
        <p:nvSpPr>
          <p:cNvPr id="67" name="Text 65"/>
          <p:cNvSpPr/>
          <p:nvPr/>
        </p:nvSpPr>
        <p:spPr>
          <a:xfrm>
            <a:off x="6400800" y="4983480"/>
            <a:ext cx="500176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6F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Y1: 90% commerce → Y5: 55% commerce + 30% subscription + 15% B2B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6F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Subscription is the margin accelerator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685800" y="6492240"/>
            <a:ext cx="10058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F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targets are planning assumptions; replace with cohort data as collected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2E8"/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-2743200"/>
            <a:ext cx="7315200" cy="7315200"/>
          </a:xfrm>
          <a:prstGeom prst="ellipse">
            <a:avLst/>
          </a:prstGeom>
          <a:solidFill>
            <a:srgbClr val="1C6B44">
              <a:alpha val="1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-3657600"/>
            <a:ext cx="8229600" cy="8229600"/>
          </a:xfrm>
          <a:prstGeom prst="ellipse">
            <a:avLst/>
          </a:prstGeom>
          <a:solidFill>
            <a:srgbClr val="F6AD37">
              <a:alpha val="7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0" y="3657600"/>
            <a:ext cx="6400800" cy="6400800"/>
          </a:xfrm>
          <a:prstGeom prst="ellipse">
            <a:avLst/>
          </a:prstGeom>
          <a:solidFill>
            <a:srgbClr val="B1F24B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78" y="2988589"/>
            <a:ext cx="131960" cy="131960"/>
          </a:xfrm>
          <a:prstGeom prst="ellipse">
            <a:avLst/>
          </a:prstGeom>
          <a:solidFill>
            <a:srgbClr val="1C6B44">
              <a:alpha val="21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86041" y="4560848"/>
            <a:ext cx="114570" cy="114570"/>
          </a:xfrm>
          <a:prstGeom prst="ellipse">
            <a:avLst/>
          </a:prstGeom>
          <a:solidFill>
            <a:srgbClr val="1C6B44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45060" y="3760137"/>
            <a:ext cx="117850" cy="117850"/>
          </a:xfrm>
          <a:prstGeom prst="ellipse">
            <a:avLst/>
          </a:prstGeom>
          <a:solidFill>
            <a:srgbClr val="1C6B44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877305" y="5019363"/>
            <a:ext cx="163670" cy="163670"/>
          </a:xfrm>
          <a:prstGeom prst="ellipse">
            <a:avLst/>
          </a:prstGeom>
          <a:solidFill>
            <a:srgbClr val="1C6B44">
              <a:alpha val="21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548885" y="5731742"/>
            <a:ext cx="63546" cy="63546"/>
          </a:xfrm>
          <a:prstGeom prst="ellipse">
            <a:avLst/>
          </a:prstGeom>
          <a:solidFill>
            <a:srgbClr val="1C6B44">
              <a:alpha val="23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5925" y="2090354"/>
            <a:ext cx="149731" cy="149731"/>
          </a:xfrm>
          <a:prstGeom prst="ellipse">
            <a:avLst/>
          </a:prstGeom>
          <a:solidFill>
            <a:srgbClr val="1C6B44">
              <a:alpha val="1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315640" y="1724639"/>
            <a:ext cx="110455" cy="110455"/>
          </a:xfrm>
          <a:prstGeom prst="ellipse">
            <a:avLst/>
          </a:prstGeom>
          <a:solidFill>
            <a:srgbClr val="1C6B44">
              <a:alpha val="23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19262" y="458115"/>
            <a:ext cx="102239" cy="102239"/>
          </a:xfrm>
          <a:prstGeom prst="ellipse">
            <a:avLst/>
          </a:prstGeom>
          <a:solidFill>
            <a:srgbClr val="1C6B44">
              <a:alpha val="14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445298" y="2761797"/>
            <a:ext cx="87060" cy="87060"/>
          </a:xfrm>
          <a:prstGeom prst="ellipse">
            <a:avLst/>
          </a:prstGeom>
          <a:solidFill>
            <a:srgbClr val="1C6B44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005938" y="5898951"/>
            <a:ext cx="101696" cy="101696"/>
          </a:xfrm>
          <a:prstGeom prst="ellipse">
            <a:avLst/>
          </a:prstGeom>
          <a:solidFill>
            <a:srgbClr val="1C6B44">
              <a:alpha val="11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512469" y="1430789"/>
            <a:ext cx="136067" cy="136067"/>
          </a:xfrm>
          <a:prstGeom prst="ellipse">
            <a:avLst/>
          </a:prstGeom>
          <a:solidFill>
            <a:srgbClr val="1C6B44">
              <a:alpha val="2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30429" y="1500694"/>
            <a:ext cx="102956" cy="102956"/>
          </a:xfrm>
          <a:prstGeom prst="ellipse">
            <a:avLst/>
          </a:prstGeom>
          <a:solidFill>
            <a:srgbClr val="1C6B44">
              <a:alpha val="14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C6B44"/>
          </a:solidFill>
          <a:ln/>
        </p:spPr>
      </p:sp>
      <p:sp>
        <p:nvSpPr>
          <p:cNvPr id="19" name="Shape 17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F6AD37">
              <a:alpha val="5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45720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2F2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Go-to-Market (India)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685800" y="10515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F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Scanner acquisition → community retention → repeat commerce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10515600" y="502920"/>
            <a:ext cx="1005840" cy="502920"/>
          </a:xfrm>
          <a:prstGeom prst="roundRect">
            <a:avLst>
              <a:gd name="adj" fmla="val 27273"/>
            </a:avLst>
          </a:prstGeom>
          <a:solidFill>
            <a:srgbClr val="1C6B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515600" y="50292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08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57200" y="1828800"/>
            <a:ext cx="3566160" cy="448056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6350">
            <a:solidFill>
              <a:srgbClr val="DFE5D9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1828800"/>
            <a:ext cx="82296" cy="4480560"/>
          </a:xfrm>
          <a:prstGeom prst="roundRect">
            <a:avLst>
              <a:gd name="adj" fmla="val 44444"/>
            </a:avLst>
          </a:prstGeom>
          <a:solidFill>
            <a:srgbClr val="1C6B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1965960"/>
            <a:ext cx="32186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B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🏙️  Phase 1: Metro (0–12 mo)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85800" y="2331720"/>
            <a:ext cx="3218688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6F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Mumbai, Delhi, Bangalore, Pune, Hyderabad, Chennai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6F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Scanner viral loops (₹50–100 CAC)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6F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500 community seeders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6F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WhatsApp referrals (₹100–150)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6F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50 micro-influencers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6F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Meta/Google retargeting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251960" y="1828800"/>
            <a:ext cx="3566160" cy="448056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6350">
            <a:solidFill>
              <a:srgbClr val="DFE5D9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251960" y="1828800"/>
            <a:ext cx="82296" cy="4480560"/>
          </a:xfrm>
          <a:prstGeom prst="roundRect">
            <a:avLst>
              <a:gd name="adj" fmla="val 44444"/>
            </a:avLst>
          </a:prstGeom>
          <a:solidFill>
            <a:srgbClr val="14B8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80560" y="1965960"/>
            <a:ext cx="32186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B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🌍  Phase 2: Tier-2 (12–24 mo)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4480560" y="2331720"/>
            <a:ext cx="3218688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6F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Hindi, Tamil, Telugu, Bengali, Marathi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6F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Voice-based diagnosis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6F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₹299 monthly bundles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6F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City cohorts ("Plant Circles")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6F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College/school programs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6F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Non-typing user support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046720" y="1828800"/>
            <a:ext cx="3566160" cy="448056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6350">
            <a:solidFill>
              <a:srgbClr val="DFE5D9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6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046720" y="1828800"/>
            <a:ext cx="82296" cy="4480560"/>
          </a:xfrm>
          <a:prstGeom prst="roundRect">
            <a:avLst>
              <a:gd name="adj" fmla="val 44444"/>
            </a:avLst>
          </a:prstGeom>
          <a:solidFill>
            <a:srgbClr val="F6AD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75320" y="1965960"/>
            <a:ext cx="32186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B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🏢  Phase 3: B2B (24–36 mo)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8275320" y="2331720"/>
            <a:ext cx="3218688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6F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Institutional &amp; enterprise layer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6F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RWA managed care contracts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6F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Nursery partnerships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6F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Corporate green buildings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6F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Smart City initiatives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6F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White-label scanner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85800" y="6492240"/>
            <a:ext cx="10058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F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North Star Metric → monthly diagnosis-to-purchase conversions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2E8"/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-2743200"/>
            <a:ext cx="7315200" cy="7315200"/>
          </a:xfrm>
          <a:prstGeom prst="ellipse">
            <a:avLst/>
          </a:prstGeom>
          <a:solidFill>
            <a:srgbClr val="1C6B44">
              <a:alpha val="1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-3657600"/>
            <a:ext cx="8229600" cy="8229600"/>
          </a:xfrm>
          <a:prstGeom prst="ellipse">
            <a:avLst/>
          </a:prstGeom>
          <a:solidFill>
            <a:srgbClr val="F6AD37">
              <a:alpha val="7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0" y="3657600"/>
            <a:ext cx="6400800" cy="6400800"/>
          </a:xfrm>
          <a:prstGeom prst="ellipse">
            <a:avLst/>
          </a:prstGeom>
          <a:solidFill>
            <a:srgbClr val="B1F24B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57826" y="897075"/>
            <a:ext cx="156071" cy="156071"/>
          </a:xfrm>
          <a:prstGeom prst="ellipse">
            <a:avLst/>
          </a:prstGeom>
          <a:solidFill>
            <a:srgbClr val="1C6B44">
              <a:alpha val="2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54721" y="5035712"/>
            <a:ext cx="65061" cy="65061"/>
          </a:xfrm>
          <a:prstGeom prst="ellipse">
            <a:avLst/>
          </a:prstGeom>
          <a:solidFill>
            <a:srgbClr val="1C6B44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14729" y="668102"/>
            <a:ext cx="124262" cy="124262"/>
          </a:xfrm>
          <a:prstGeom prst="ellipse">
            <a:avLst/>
          </a:prstGeom>
          <a:solidFill>
            <a:srgbClr val="1C6B44">
              <a:alpha val="24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08030" y="4273670"/>
            <a:ext cx="106247" cy="106247"/>
          </a:xfrm>
          <a:prstGeom prst="ellipse">
            <a:avLst/>
          </a:prstGeom>
          <a:solidFill>
            <a:srgbClr val="1C6B44">
              <a:alpha val="2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59744" y="2758843"/>
            <a:ext cx="89028" cy="89028"/>
          </a:xfrm>
          <a:prstGeom prst="ellipse">
            <a:avLst/>
          </a:prstGeom>
          <a:solidFill>
            <a:srgbClr val="1C6B44">
              <a:alpha val="2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848494" y="3916053"/>
            <a:ext cx="58589" cy="58589"/>
          </a:xfrm>
          <a:prstGeom prst="ellipse">
            <a:avLst/>
          </a:prstGeom>
          <a:solidFill>
            <a:srgbClr val="1C6B44">
              <a:alpha val="1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055869" y="4036973"/>
            <a:ext cx="142692" cy="142692"/>
          </a:xfrm>
          <a:prstGeom prst="ellipse">
            <a:avLst/>
          </a:prstGeom>
          <a:solidFill>
            <a:srgbClr val="1C6B44">
              <a:alpha val="23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850886" y="5034821"/>
            <a:ext cx="92033" cy="92033"/>
          </a:xfrm>
          <a:prstGeom prst="ellipse">
            <a:avLst/>
          </a:prstGeom>
          <a:solidFill>
            <a:srgbClr val="1C6B44">
              <a:alpha val="1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12507" y="3438124"/>
            <a:ext cx="117020" cy="117020"/>
          </a:xfrm>
          <a:prstGeom prst="ellipse">
            <a:avLst/>
          </a:prstGeom>
          <a:solidFill>
            <a:srgbClr val="1C6B44">
              <a:alpha val="19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951080" y="4248582"/>
            <a:ext cx="102684" cy="102684"/>
          </a:xfrm>
          <a:prstGeom prst="ellipse">
            <a:avLst/>
          </a:prstGeom>
          <a:solidFill>
            <a:srgbClr val="1C6B44">
              <a:alpha val="19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00852" y="4074118"/>
            <a:ext cx="110010" cy="110010"/>
          </a:xfrm>
          <a:prstGeom prst="ellipse">
            <a:avLst/>
          </a:prstGeom>
          <a:solidFill>
            <a:srgbClr val="1C6B44">
              <a:alpha val="14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706492" y="3620263"/>
            <a:ext cx="80192" cy="80192"/>
          </a:xfrm>
          <a:prstGeom prst="ellipse">
            <a:avLst/>
          </a:prstGeom>
          <a:solidFill>
            <a:srgbClr val="1C6B44">
              <a:alpha val="19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C6B44"/>
          </a:solidFill>
          <a:ln/>
        </p:spPr>
      </p:sp>
      <p:sp>
        <p:nvSpPr>
          <p:cNvPr id="19" name="Shape 17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F6AD37">
              <a:alpha val="5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45720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2F2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Financial Projections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685800" y="10515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F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Revenue growth with improving margins as subscription mix rises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10515600" y="502920"/>
            <a:ext cx="1005840" cy="502920"/>
          </a:xfrm>
          <a:prstGeom prst="roundRect">
            <a:avLst>
              <a:gd name="adj" fmla="val 27273"/>
            </a:avLst>
          </a:prstGeom>
          <a:solidFill>
            <a:srgbClr val="1C6B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515600" y="50292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09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48640" y="5669280"/>
            <a:ext cx="7315200" cy="0"/>
          </a:xfrm>
          <a:prstGeom prst="line">
            <a:avLst/>
          </a:prstGeom>
          <a:noFill/>
          <a:ln w="6350">
            <a:solidFill>
              <a:srgbClr val="DFE5D9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548640" y="4754880"/>
            <a:ext cx="7315200" cy="0"/>
          </a:xfrm>
          <a:prstGeom prst="line">
            <a:avLst/>
          </a:prstGeom>
          <a:noFill/>
          <a:ln w="6350">
            <a:solidFill>
              <a:srgbClr val="DFE5D9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548640" y="3840480"/>
            <a:ext cx="7315200" cy="0"/>
          </a:xfrm>
          <a:prstGeom prst="line">
            <a:avLst/>
          </a:prstGeom>
          <a:noFill/>
          <a:ln w="6350">
            <a:solidFill>
              <a:srgbClr val="DFE5D9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548640" y="2926080"/>
            <a:ext cx="7315200" cy="0"/>
          </a:xfrm>
          <a:prstGeom prst="line">
            <a:avLst/>
          </a:prstGeom>
          <a:noFill/>
          <a:ln w="6350">
            <a:solidFill>
              <a:srgbClr val="DFE5D9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548640" y="2011680"/>
            <a:ext cx="7315200" cy="0"/>
          </a:xfrm>
          <a:prstGeom prst="line">
            <a:avLst/>
          </a:prstGeom>
          <a:noFill/>
          <a:ln w="6350">
            <a:solidFill>
              <a:srgbClr val="DFE5D9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694944" y="5632704"/>
            <a:ext cx="790956" cy="73152"/>
          </a:xfrm>
          <a:prstGeom prst="roundRect">
            <a:avLst>
              <a:gd name="adj" fmla="val 100000"/>
            </a:avLst>
          </a:prstGeom>
          <a:solidFill>
            <a:srgbClr val="000000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58368" y="5596128"/>
            <a:ext cx="790956" cy="73152"/>
          </a:xfrm>
          <a:prstGeom prst="roundRect">
            <a:avLst>
              <a:gd name="adj" fmla="val 100000"/>
            </a:avLst>
          </a:prstGeom>
          <a:solidFill>
            <a:srgbClr val="1C6B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58368" y="5596128"/>
            <a:ext cx="790956" cy="29261"/>
          </a:xfrm>
          <a:prstGeom prst="roundRect">
            <a:avLst>
              <a:gd name="adj" fmla="val 249998"/>
            </a:avLst>
          </a:prstGeom>
          <a:solidFill>
            <a:srgbClr val="FFFFFF">
              <a:alpha val="2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6928" y="5303520"/>
            <a:ext cx="9738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2F2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$0.9M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58368" y="5715000"/>
            <a:ext cx="7909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6F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Y1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1595628" y="5632704"/>
            <a:ext cx="790956" cy="73152"/>
          </a:xfrm>
          <a:prstGeom prst="roundRect">
            <a:avLst>
              <a:gd name="adj" fmla="val 100000"/>
            </a:avLst>
          </a:prstGeom>
          <a:solidFill>
            <a:srgbClr val="000000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559052" y="5596128"/>
            <a:ext cx="790956" cy="73152"/>
          </a:xfrm>
          <a:prstGeom prst="roundRect">
            <a:avLst>
              <a:gd name="adj" fmla="val 100000"/>
            </a:avLst>
          </a:prstGeom>
          <a:solidFill>
            <a:srgbClr val="1C6B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559052" y="5596128"/>
            <a:ext cx="790956" cy="29261"/>
          </a:xfrm>
          <a:prstGeom prst="roundRect">
            <a:avLst>
              <a:gd name="adj" fmla="val 249998"/>
            </a:avLst>
          </a:prstGeom>
          <a:solidFill>
            <a:srgbClr val="FFFFFF">
              <a:alpha val="2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67612" y="5303520"/>
            <a:ext cx="9738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2F2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$4.2M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559052" y="5715000"/>
            <a:ext cx="7909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6F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Y2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496312" y="5580126"/>
            <a:ext cx="790956" cy="125730"/>
          </a:xfrm>
          <a:prstGeom prst="roundRect">
            <a:avLst>
              <a:gd name="adj" fmla="val 58182"/>
            </a:avLst>
          </a:prstGeom>
          <a:solidFill>
            <a:srgbClr val="000000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459736" y="5543550"/>
            <a:ext cx="790956" cy="125730"/>
          </a:xfrm>
          <a:prstGeom prst="roundRect">
            <a:avLst>
              <a:gd name="adj" fmla="val 58182"/>
            </a:avLst>
          </a:prstGeom>
          <a:solidFill>
            <a:srgbClr val="1C6B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459736" y="5543550"/>
            <a:ext cx="790956" cy="50292"/>
          </a:xfrm>
          <a:prstGeom prst="roundRect">
            <a:avLst>
              <a:gd name="adj" fmla="val 145455"/>
            </a:avLst>
          </a:prstGeom>
          <a:solidFill>
            <a:srgbClr val="FFFFFF">
              <a:alpha val="2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368296" y="5250942"/>
            <a:ext cx="9738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2F2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$15M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2459736" y="5715000"/>
            <a:ext cx="7909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6F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Y3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396996" y="5387340"/>
            <a:ext cx="790956" cy="318516"/>
          </a:xfrm>
          <a:prstGeom prst="roundRect">
            <a:avLst>
              <a:gd name="adj" fmla="val 22967"/>
            </a:avLst>
          </a:prstGeom>
          <a:solidFill>
            <a:srgbClr val="000000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360420" y="5350764"/>
            <a:ext cx="790956" cy="318516"/>
          </a:xfrm>
          <a:prstGeom prst="roundRect">
            <a:avLst>
              <a:gd name="adj" fmla="val 22967"/>
            </a:avLst>
          </a:prstGeom>
          <a:solidFill>
            <a:srgbClr val="1C6B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360420" y="5350764"/>
            <a:ext cx="790956" cy="127406"/>
          </a:xfrm>
          <a:prstGeom prst="roundRect">
            <a:avLst>
              <a:gd name="adj" fmla="val 57416"/>
            </a:avLst>
          </a:prstGeom>
          <a:solidFill>
            <a:srgbClr val="FFFFFF">
              <a:alpha val="2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268980" y="5058156"/>
            <a:ext cx="9738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2F2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$38M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3360420" y="5715000"/>
            <a:ext cx="7909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6F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Y4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297680" y="5018532"/>
            <a:ext cx="790956" cy="687324"/>
          </a:xfrm>
          <a:prstGeom prst="roundRect">
            <a:avLst>
              <a:gd name="adj" fmla="val 10643"/>
            </a:avLst>
          </a:prstGeom>
          <a:solidFill>
            <a:srgbClr val="000000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261104" y="4981956"/>
            <a:ext cx="790956" cy="687324"/>
          </a:xfrm>
          <a:prstGeom prst="roundRect">
            <a:avLst>
              <a:gd name="adj" fmla="val 10643"/>
            </a:avLst>
          </a:prstGeom>
          <a:solidFill>
            <a:srgbClr val="1C6B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261104" y="4981956"/>
            <a:ext cx="790956" cy="274930"/>
          </a:xfrm>
          <a:prstGeom prst="roundRect">
            <a:avLst>
              <a:gd name="adj" fmla="val 26608"/>
            </a:avLst>
          </a:prstGeom>
          <a:solidFill>
            <a:srgbClr val="FFFFFF">
              <a:alpha val="2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169664" y="4689348"/>
            <a:ext cx="9738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2F2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$82M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4261104" y="5715000"/>
            <a:ext cx="7909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6F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Y5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5198364" y="4364736"/>
            <a:ext cx="790956" cy="1341120"/>
          </a:xfrm>
          <a:prstGeom prst="roundRect">
            <a:avLst>
              <a:gd name="adj" fmla="val 9249"/>
            </a:avLst>
          </a:prstGeom>
          <a:solidFill>
            <a:srgbClr val="000000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161788" y="4328160"/>
            <a:ext cx="790956" cy="1341120"/>
          </a:xfrm>
          <a:prstGeom prst="roundRect">
            <a:avLst>
              <a:gd name="adj" fmla="val 9249"/>
            </a:avLst>
          </a:prstGeom>
          <a:solidFill>
            <a:srgbClr val="1C6B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161788" y="4328160"/>
            <a:ext cx="790956" cy="536448"/>
          </a:xfrm>
          <a:prstGeom prst="roundRect">
            <a:avLst>
              <a:gd name="adj" fmla="val 13636"/>
            </a:avLst>
          </a:prstGeom>
          <a:solidFill>
            <a:srgbClr val="FFFFFF">
              <a:alpha val="2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070348" y="4035552"/>
            <a:ext cx="9738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2F2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$160M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5161788" y="5715000"/>
            <a:ext cx="7909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6F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Y6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6099048" y="3484626"/>
            <a:ext cx="790956" cy="2221230"/>
          </a:xfrm>
          <a:prstGeom prst="roundRect">
            <a:avLst>
              <a:gd name="adj" fmla="val 9249"/>
            </a:avLst>
          </a:prstGeom>
          <a:solidFill>
            <a:srgbClr val="000000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062472" y="3448050"/>
            <a:ext cx="790956" cy="2221230"/>
          </a:xfrm>
          <a:prstGeom prst="roundRect">
            <a:avLst>
              <a:gd name="adj" fmla="val 9249"/>
            </a:avLst>
          </a:prstGeom>
          <a:solidFill>
            <a:srgbClr val="1C6B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062472" y="3448050"/>
            <a:ext cx="790956" cy="888492"/>
          </a:xfrm>
          <a:prstGeom prst="roundRect">
            <a:avLst>
              <a:gd name="adj" fmla="val 9249"/>
            </a:avLst>
          </a:prstGeom>
          <a:solidFill>
            <a:srgbClr val="FFFFFF">
              <a:alpha val="2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971032" y="3155442"/>
            <a:ext cx="9738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2F2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$265M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6062472" y="5715000"/>
            <a:ext cx="7909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6F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Y7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6999732" y="2185416"/>
            <a:ext cx="790956" cy="3520440"/>
          </a:xfrm>
          <a:prstGeom prst="roundRect">
            <a:avLst>
              <a:gd name="adj" fmla="val 9249"/>
            </a:avLst>
          </a:prstGeom>
          <a:solidFill>
            <a:srgbClr val="000000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963156" y="2148840"/>
            <a:ext cx="790956" cy="3520440"/>
          </a:xfrm>
          <a:prstGeom prst="roundRect">
            <a:avLst>
              <a:gd name="adj" fmla="val 9249"/>
            </a:avLst>
          </a:prstGeom>
          <a:solidFill>
            <a:srgbClr val="1C6B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963156" y="2148840"/>
            <a:ext cx="790956" cy="1408176"/>
          </a:xfrm>
          <a:prstGeom prst="roundRect">
            <a:avLst>
              <a:gd name="adj" fmla="val 9249"/>
            </a:avLst>
          </a:prstGeom>
          <a:solidFill>
            <a:srgbClr val="FFFFFF">
              <a:alpha val="2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871716" y="1856232"/>
            <a:ext cx="9738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2F2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$420M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6963156" y="5715000"/>
            <a:ext cx="7909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6F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Y8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548640" y="16916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B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Revenue (USD millions)</a:t>
            </a:r>
            <a:endParaRPr lang="en-US" sz="1400" dirty="0"/>
          </a:p>
        </p:txBody>
      </p:sp>
      <p:sp>
        <p:nvSpPr>
          <p:cNvPr id="70" name="Text 68"/>
          <p:cNvSpPr/>
          <p:nvPr/>
        </p:nvSpPr>
        <p:spPr>
          <a:xfrm>
            <a:off x="8138160" y="20116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B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EBITDA Margin</a:t>
            </a:r>
            <a:endParaRPr lang="en-US" sz="1300" dirty="0"/>
          </a:p>
        </p:txBody>
      </p:sp>
      <p:sp>
        <p:nvSpPr>
          <p:cNvPr id="71" name="Text 69"/>
          <p:cNvSpPr/>
          <p:nvPr/>
        </p:nvSpPr>
        <p:spPr>
          <a:xfrm>
            <a:off x="8138160" y="2404872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B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Y1: -60%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8138160" y="2606040"/>
            <a:ext cx="3200400" cy="201168"/>
          </a:xfrm>
          <a:prstGeom prst="roundRect">
            <a:avLst>
              <a:gd name="adj" fmla="val 50000"/>
            </a:avLst>
          </a:prstGeom>
          <a:solidFill>
            <a:srgbClr val="F5F7F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138160" y="2606040"/>
            <a:ext cx="0" cy="201168"/>
          </a:xfrm>
          <a:prstGeom prst="roundRect">
            <a:avLst>
              <a:gd name="adj" fmla="val Infinity"/>
            </a:avLst>
          </a:prstGeom>
          <a:solidFill>
            <a:srgbClr val="E85D5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11411712" y="257860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5D5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0%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8138160" y="2953512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B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Y4: +5%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8138160" y="3154680"/>
            <a:ext cx="3200400" cy="201168"/>
          </a:xfrm>
          <a:prstGeom prst="roundRect">
            <a:avLst>
              <a:gd name="adj" fmla="val 50000"/>
            </a:avLst>
          </a:prstGeom>
          <a:solidFill>
            <a:srgbClr val="F5F7F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8138160" y="3154680"/>
            <a:ext cx="160020" cy="201168"/>
          </a:xfrm>
          <a:prstGeom prst="roundRect">
            <a:avLst>
              <a:gd name="adj" fmla="val 62857"/>
            </a:avLst>
          </a:prstGeom>
          <a:solidFill>
            <a:srgbClr val="F6AD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11411712" y="312724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6AD3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5%</a:t>
            </a:r>
            <a:endParaRPr lang="en-US" sz="1000" dirty="0"/>
          </a:p>
        </p:txBody>
      </p:sp>
      <p:sp>
        <p:nvSpPr>
          <p:cNvPr id="79" name="Text 77"/>
          <p:cNvSpPr/>
          <p:nvPr/>
        </p:nvSpPr>
        <p:spPr>
          <a:xfrm>
            <a:off x="8138160" y="3502152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B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Y7: +21%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8138160" y="3703320"/>
            <a:ext cx="3200400" cy="201168"/>
          </a:xfrm>
          <a:prstGeom prst="roundRect">
            <a:avLst>
              <a:gd name="adj" fmla="val 50000"/>
            </a:avLst>
          </a:prstGeom>
          <a:solidFill>
            <a:srgbClr val="F5F7F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8138160" y="3703320"/>
            <a:ext cx="672084" cy="201168"/>
          </a:xfrm>
          <a:prstGeom prst="roundRect">
            <a:avLst>
              <a:gd name="adj" fmla="val 50000"/>
            </a:avLst>
          </a:prstGeom>
          <a:solidFill>
            <a:srgbClr val="1C6B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11411712" y="367588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6B4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21%</a:t>
            </a:r>
            <a:endParaRPr lang="en-US" sz="1000" dirty="0"/>
          </a:p>
        </p:txBody>
      </p:sp>
      <p:sp>
        <p:nvSpPr>
          <p:cNvPr id="83" name="Text 81"/>
          <p:cNvSpPr/>
          <p:nvPr/>
        </p:nvSpPr>
        <p:spPr>
          <a:xfrm>
            <a:off x="8138160" y="4050792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B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Y8: +24%</a:t>
            </a:r>
            <a:endParaRPr lang="en-US" sz="1000" dirty="0"/>
          </a:p>
        </p:txBody>
      </p:sp>
      <p:sp>
        <p:nvSpPr>
          <p:cNvPr id="84" name="Shape 82"/>
          <p:cNvSpPr/>
          <p:nvPr/>
        </p:nvSpPr>
        <p:spPr>
          <a:xfrm>
            <a:off x="8138160" y="4251960"/>
            <a:ext cx="3200400" cy="201168"/>
          </a:xfrm>
          <a:prstGeom prst="roundRect">
            <a:avLst>
              <a:gd name="adj" fmla="val 50000"/>
            </a:avLst>
          </a:prstGeom>
          <a:solidFill>
            <a:srgbClr val="F5F7F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8138160" y="4251960"/>
            <a:ext cx="768096" cy="201168"/>
          </a:xfrm>
          <a:prstGeom prst="roundRect">
            <a:avLst>
              <a:gd name="adj" fmla="val 50000"/>
            </a:avLst>
          </a:prstGeom>
          <a:solidFill>
            <a:srgbClr val="1C6B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11411712" y="422452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6B4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24%</a:t>
            </a:r>
            <a:endParaRPr lang="en-US" sz="1000" dirty="0"/>
          </a:p>
        </p:txBody>
      </p:sp>
      <p:sp>
        <p:nvSpPr>
          <p:cNvPr id="87" name="Text 85"/>
          <p:cNvSpPr/>
          <p:nvPr/>
        </p:nvSpPr>
        <p:spPr>
          <a:xfrm>
            <a:off x="8138160" y="49377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B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Active Users</a:t>
            </a:r>
            <a:endParaRPr lang="en-US" sz="1300" dirty="0"/>
          </a:p>
        </p:txBody>
      </p:sp>
      <p:sp>
        <p:nvSpPr>
          <p:cNvPr id="88" name="Text 86"/>
          <p:cNvSpPr/>
          <p:nvPr/>
        </p:nvSpPr>
        <p:spPr>
          <a:xfrm>
            <a:off x="8138160" y="5330952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B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Y1: 25K</a:t>
            </a:r>
            <a:endParaRPr lang="en-US" sz="1000" dirty="0"/>
          </a:p>
        </p:txBody>
      </p:sp>
      <p:sp>
        <p:nvSpPr>
          <p:cNvPr id="89" name="Shape 87"/>
          <p:cNvSpPr/>
          <p:nvPr/>
        </p:nvSpPr>
        <p:spPr>
          <a:xfrm>
            <a:off x="8138160" y="5532120"/>
            <a:ext cx="3200400" cy="201168"/>
          </a:xfrm>
          <a:prstGeom prst="roundRect">
            <a:avLst>
              <a:gd name="adj" fmla="val 50000"/>
            </a:avLst>
          </a:prstGeom>
          <a:solidFill>
            <a:srgbClr val="F5F7F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8138160" y="5532120"/>
            <a:ext cx="64008" cy="201168"/>
          </a:xfrm>
          <a:prstGeom prst="roundRect">
            <a:avLst>
              <a:gd name="adj" fmla="val 157143"/>
            </a:avLst>
          </a:prstGeom>
          <a:solidFill>
            <a:srgbClr val="4A9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11411712" y="550468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90D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2%</a:t>
            </a:r>
            <a:endParaRPr lang="en-US" sz="1000" dirty="0"/>
          </a:p>
        </p:txBody>
      </p:sp>
      <p:sp>
        <p:nvSpPr>
          <p:cNvPr id="92" name="Text 90"/>
          <p:cNvSpPr/>
          <p:nvPr/>
        </p:nvSpPr>
        <p:spPr>
          <a:xfrm>
            <a:off x="8138160" y="5879592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B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Y7: 8.5M</a:t>
            </a:r>
            <a:endParaRPr lang="en-US" sz="1000" dirty="0"/>
          </a:p>
        </p:txBody>
      </p:sp>
      <p:sp>
        <p:nvSpPr>
          <p:cNvPr id="93" name="Shape 91"/>
          <p:cNvSpPr/>
          <p:nvPr/>
        </p:nvSpPr>
        <p:spPr>
          <a:xfrm>
            <a:off x="8138160" y="6080760"/>
            <a:ext cx="3200400" cy="201168"/>
          </a:xfrm>
          <a:prstGeom prst="roundRect">
            <a:avLst>
              <a:gd name="adj" fmla="val 50000"/>
            </a:avLst>
          </a:prstGeom>
          <a:solidFill>
            <a:srgbClr val="F5F7F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8138160" y="6080760"/>
            <a:ext cx="2080260" cy="201168"/>
          </a:xfrm>
          <a:prstGeom prst="roundRect">
            <a:avLst>
              <a:gd name="adj" fmla="val 50000"/>
            </a:avLst>
          </a:prstGeom>
          <a:solidFill>
            <a:srgbClr val="4A9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11411712" y="605332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90D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65%</a:t>
            </a:r>
            <a:endParaRPr lang="en-US" sz="1000" dirty="0"/>
          </a:p>
        </p:txBody>
      </p:sp>
      <p:sp>
        <p:nvSpPr>
          <p:cNvPr id="96" name="Text 94"/>
          <p:cNvSpPr/>
          <p:nvPr/>
        </p:nvSpPr>
        <p:spPr>
          <a:xfrm>
            <a:off x="685800" y="6492240"/>
            <a:ext cx="10058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F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Scenario-based planning — not guaranteed forecast. ₹83 = $1 exchange rate.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F25"/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-2743200"/>
            <a:ext cx="7315200" cy="7315200"/>
          </a:xfrm>
          <a:prstGeom prst="ellipse">
            <a:avLst/>
          </a:prstGeom>
          <a:solidFill>
            <a:srgbClr val="1C6B44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-3657600"/>
            <a:ext cx="8229600" cy="8229600"/>
          </a:xfrm>
          <a:prstGeom prst="ellipse">
            <a:avLst/>
          </a:prstGeom>
          <a:solidFill>
            <a:srgbClr val="B1F24B">
              <a:alpha val="7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0" y="3657600"/>
            <a:ext cx="6400800" cy="6400800"/>
          </a:xfrm>
          <a:prstGeom prst="ellipse">
            <a:avLst/>
          </a:prstGeom>
          <a:solidFill>
            <a:srgbClr val="F6AD37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90482" y="2227542"/>
            <a:ext cx="159096" cy="159096"/>
          </a:xfrm>
          <a:prstGeom prst="ellipse">
            <a:avLst/>
          </a:prstGeom>
          <a:solidFill>
            <a:srgbClr val="B1F24B">
              <a:alpha val="2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21373" y="4857447"/>
            <a:ext cx="105177" cy="105177"/>
          </a:xfrm>
          <a:prstGeom prst="ellipse">
            <a:avLst/>
          </a:prstGeom>
          <a:solidFill>
            <a:srgbClr val="B1F24B">
              <a:alpha val="11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949594" y="5208486"/>
            <a:ext cx="111439" cy="111439"/>
          </a:xfrm>
          <a:prstGeom prst="ellipse">
            <a:avLst/>
          </a:prstGeom>
          <a:solidFill>
            <a:srgbClr val="B1F24B">
              <a:alpha val="11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97148" y="2291359"/>
            <a:ext cx="95835" cy="95835"/>
          </a:xfrm>
          <a:prstGeom prst="ellipse">
            <a:avLst/>
          </a:prstGeom>
          <a:solidFill>
            <a:srgbClr val="B1F24B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313083" y="2830879"/>
            <a:ext cx="117990" cy="117990"/>
          </a:xfrm>
          <a:prstGeom prst="ellipse">
            <a:avLst/>
          </a:prstGeom>
          <a:solidFill>
            <a:srgbClr val="B1F24B">
              <a:alpha val="13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471113" y="1207833"/>
            <a:ext cx="76368" cy="76368"/>
          </a:xfrm>
          <a:prstGeom prst="ellipse">
            <a:avLst/>
          </a:prstGeom>
          <a:solidFill>
            <a:srgbClr val="B1F24B">
              <a:alpha val="1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61162" y="2060851"/>
            <a:ext cx="147140" cy="147140"/>
          </a:xfrm>
          <a:prstGeom prst="ellipse">
            <a:avLst/>
          </a:prstGeom>
          <a:solidFill>
            <a:srgbClr val="B1F24B">
              <a:alpha val="24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69962" y="2049125"/>
            <a:ext cx="148641" cy="148641"/>
          </a:xfrm>
          <a:prstGeom prst="ellipse">
            <a:avLst/>
          </a:prstGeom>
          <a:solidFill>
            <a:srgbClr val="B1F24B">
              <a:alpha val="1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4969" y="4174858"/>
            <a:ext cx="148000" cy="148000"/>
          </a:xfrm>
          <a:prstGeom prst="ellipse">
            <a:avLst/>
          </a:prstGeom>
          <a:solidFill>
            <a:srgbClr val="B1F24B">
              <a:alpha val="1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97218" y="3732317"/>
            <a:ext cx="155327" cy="155327"/>
          </a:xfrm>
          <a:prstGeom prst="ellipse">
            <a:avLst/>
          </a:prstGeom>
          <a:solidFill>
            <a:srgbClr val="B1F24B">
              <a:alpha val="14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87507" y="2611399"/>
            <a:ext cx="162385" cy="162385"/>
          </a:xfrm>
          <a:prstGeom prst="ellipse">
            <a:avLst/>
          </a:prstGeom>
          <a:solidFill>
            <a:srgbClr val="B1F24B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41293" y="4042307"/>
            <a:ext cx="70747" cy="70747"/>
          </a:xfrm>
          <a:prstGeom prst="ellipse">
            <a:avLst/>
          </a:prstGeom>
          <a:solidFill>
            <a:srgbClr val="B1F24B">
              <a:alpha val="13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1F24B"/>
          </a:solidFill>
          <a:ln/>
        </p:spPr>
      </p:sp>
      <p:sp>
        <p:nvSpPr>
          <p:cNvPr id="19" name="Shape 17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F6AD37">
              <a:alpha val="5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45720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$1 Billion Valuation Path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685800" y="10515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DDD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Achievable in Year 6–7 with disciplined execution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10515600" y="502920"/>
            <a:ext cx="1005840" cy="502920"/>
          </a:xfrm>
          <a:prstGeom prst="roundRect">
            <a:avLst>
              <a:gd name="adj" fmla="val 27273"/>
            </a:avLst>
          </a:prstGeom>
          <a:solidFill>
            <a:srgbClr val="1C6B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515600" y="50292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10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48640" y="5303520"/>
            <a:ext cx="1234440" cy="457200"/>
          </a:xfrm>
          <a:prstGeom prst="roundRect">
            <a:avLst>
              <a:gd name="adj" fmla="val 20000"/>
            </a:avLst>
          </a:prstGeom>
          <a:solidFill>
            <a:srgbClr val="1C6B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498348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$12M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" y="5833872"/>
            <a:ext cx="1234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Y1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965960" y="4983480"/>
            <a:ext cx="1234440" cy="777240"/>
          </a:xfrm>
          <a:prstGeom prst="roundRect">
            <a:avLst>
              <a:gd name="adj" fmla="val 11765"/>
            </a:avLst>
          </a:prstGeom>
          <a:solidFill>
            <a:srgbClr val="1C6B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965960" y="466344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$42M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965960" y="5833872"/>
            <a:ext cx="1234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Y2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383280" y="4572000"/>
            <a:ext cx="1234440" cy="1188720"/>
          </a:xfrm>
          <a:prstGeom prst="roundRect">
            <a:avLst>
              <a:gd name="adj" fmla="val 7692"/>
            </a:avLst>
          </a:prstGeom>
          <a:solidFill>
            <a:srgbClr val="1C6B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83280" y="425196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$128M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383280" y="5833872"/>
            <a:ext cx="1234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Y3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800600" y="4114800"/>
            <a:ext cx="1234440" cy="1645920"/>
          </a:xfrm>
          <a:prstGeom prst="roundRect">
            <a:avLst>
              <a:gd name="adj" fmla="val 7407"/>
            </a:avLst>
          </a:prstGeom>
          <a:solidFill>
            <a:srgbClr val="1C6B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00600" y="379476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$285M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800600" y="5833872"/>
            <a:ext cx="1234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Y4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217920" y="3566160"/>
            <a:ext cx="1234440" cy="2194560"/>
          </a:xfrm>
          <a:prstGeom prst="roundRect">
            <a:avLst>
              <a:gd name="adj" fmla="val 7407"/>
            </a:avLst>
          </a:prstGeom>
          <a:solidFill>
            <a:srgbClr val="1C6B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17920" y="324612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$575M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217920" y="5833872"/>
            <a:ext cx="1234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Y5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635240" y="2834640"/>
            <a:ext cx="1234440" cy="2926080"/>
          </a:xfrm>
          <a:prstGeom prst="roundRect">
            <a:avLst>
              <a:gd name="adj" fmla="val 7407"/>
            </a:avLst>
          </a:prstGeom>
          <a:solidFill>
            <a:srgbClr val="B1F2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635240" y="2834640"/>
            <a:ext cx="1234440" cy="877824"/>
          </a:xfrm>
          <a:prstGeom prst="roundRect">
            <a:avLst>
              <a:gd name="adj" fmla="val 10417"/>
            </a:avLst>
          </a:prstGeom>
          <a:solidFill>
            <a:srgbClr val="FFFFFF">
              <a:alpha val="3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635240" y="251460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1F2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$950M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635240" y="5833872"/>
            <a:ext cx="1234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Y6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9052560" y="2194560"/>
            <a:ext cx="1234440" cy="3566160"/>
          </a:xfrm>
          <a:prstGeom prst="roundRect">
            <a:avLst>
              <a:gd name="adj" fmla="val 7407"/>
            </a:avLst>
          </a:prstGeom>
          <a:solidFill>
            <a:srgbClr val="B1F2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052560" y="2194560"/>
            <a:ext cx="1234440" cy="1069848"/>
          </a:xfrm>
          <a:prstGeom prst="roundRect">
            <a:avLst>
              <a:gd name="adj" fmla="val 8547"/>
            </a:avLst>
          </a:prstGeom>
          <a:solidFill>
            <a:srgbClr val="FFFFFF">
              <a:alpha val="3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052560" y="187452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1F2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$1.3B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9052560" y="5833872"/>
            <a:ext cx="1234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Y7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10469880" y="1645920"/>
            <a:ext cx="1234440" cy="4114800"/>
          </a:xfrm>
          <a:prstGeom prst="roundRect">
            <a:avLst>
              <a:gd name="adj" fmla="val 7407"/>
            </a:avLst>
          </a:prstGeom>
          <a:solidFill>
            <a:srgbClr val="B1F2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0469880" y="1645920"/>
            <a:ext cx="1234440" cy="1234440"/>
          </a:xfrm>
          <a:prstGeom prst="roundRect">
            <a:avLst>
              <a:gd name="adj" fmla="val 7407"/>
            </a:avLst>
          </a:prstGeom>
          <a:solidFill>
            <a:srgbClr val="FFFFFF">
              <a:alpha val="3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0469880" y="132588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1F2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$1.9B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10469880" y="5833872"/>
            <a:ext cx="1234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Y8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8229600" y="1828800"/>
            <a:ext cx="3383280" cy="393192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6350">
            <a:solidFill>
              <a:srgbClr val="DFE5D9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6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8229600" y="1828800"/>
            <a:ext cx="82296" cy="3931920"/>
          </a:xfrm>
          <a:prstGeom prst="roundRect">
            <a:avLst>
              <a:gd name="adj" fmla="val 44444"/>
            </a:avLst>
          </a:prstGeom>
          <a:solidFill>
            <a:srgbClr val="B1F2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458200" y="1965960"/>
            <a:ext cx="30358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B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Indian Comparables</a:t>
            </a:r>
            <a:endParaRPr lang="en-US" sz="1500" dirty="0"/>
          </a:p>
        </p:txBody>
      </p:sp>
      <p:sp>
        <p:nvSpPr>
          <p:cNvPr id="54" name="Text 52"/>
          <p:cNvSpPr/>
          <p:nvPr/>
        </p:nvSpPr>
        <p:spPr>
          <a:xfrm>
            <a:off x="8458200" y="2331720"/>
            <a:ext cx="3035808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6F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Mamaearth: $1.2B (IPO 2023)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6F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Lenskart: $4.5B (2023)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6F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PharmEasy: $5.6B (peak)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6F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Country Delight: $1.5B (2024)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6F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D2C + vertical AI + subscription = premium multiples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685800" y="6492240"/>
            <a:ext cx="10058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Revenue multiples calibrated against Indian D2C and vertical SaaS comparables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2E8"/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-2743200"/>
            <a:ext cx="7315200" cy="7315200"/>
          </a:xfrm>
          <a:prstGeom prst="ellipse">
            <a:avLst/>
          </a:prstGeom>
          <a:solidFill>
            <a:srgbClr val="1C6B44">
              <a:alpha val="1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-3657600"/>
            <a:ext cx="8229600" cy="8229600"/>
          </a:xfrm>
          <a:prstGeom prst="ellipse">
            <a:avLst/>
          </a:prstGeom>
          <a:solidFill>
            <a:srgbClr val="F6AD37">
              <a:alpha val="7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0" y="3657600"/>
            <a:ext cx="6400800" cy="6400800"/>
          </a:xfrm>
          <a:prstGeom prst="ellipse">
            <a:avLst/>
          </a:prstGeom>
          <a:solidFill>
            <a:srgbClr val="B1F24B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83221" y="3113372"/>
            <a:ext cx="160225" cy="160225"/>
          </a:xfrm>
          <a:prstGeom prst="ellipse">
            <a:avLst/>
          </a:prstGeom>
          <a:solidFill>
            <a:srgbClr val="1C6B44">
              <a:alpha val="17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465364" y="3582287"/>
            <a:ext cx="109942" cy="109942"/>
          </a:xfrm>
          <a:prstGeom prst="ellipse">
            <a:avLst/>
          </a:prstGeom>
          <a:solidFill>
            <a:srgbClr val="1C6B44">
              <a:alpha val="14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223275" y="1728503"/>
            <a:ext cx="137821" cy="137821"/>
          </a:xfrm>
          <a:prstGeom prst="ellipse">
            <a:avLst/>
          </a:prstGeom>
          <a:solidFill>
            <a:srgbClr val="1C6B44">
              <a:alpha val="1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07632" y="2201069"/>
            <a:ext cx="163776" cy="163776"/>
          </a:xfrm>
          <a:prstGeom prst="ellipse">
            <a:avLst/>
          </a:prstGeom>
          <a:solidFill>
            <a:srgbClr val="1C6B44">
              <a:alpha val="1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782005" y="2768261"/>
            <a:ext cx="155580" cy="155580"/>
          </a:xfrm>
          <a:prstGeom prst="ellipse">
            <a:avLst/>
          </a:prstGeom>
          <a:solidFill>
            <a:srgbClr val="1C6B44">
              <a:alpha val="2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60802" y="1599510"/>
            <a:ext cx="73666" cy="73666"/>
          </a:xfrm>
          <a:prstGeom prst="ellipse">
            <a:avLst/>
          </a:prstGeom>
          <a:solidFill>
            <a:srgbClr val="1C6B44">
              <a:alpha val="21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799745" y="731649"/>
            <a:ext cx="130361" cy="130361"/>
          </a:xfrm>
          <a:prstGeom prst="ellipse">
            <a:avLst/>
          </a:prstGeom>
          <a:solidFill>
            <a:srgbClr val="1C6B44">
              <a:alpha val="1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593692" y="1103004"/>
            <a:ext cx="149668" cy="149668"/>
          </a:xfrm>
          <a:prstGeom prst="ellipse">
            <a:avLst/>
          </a:prstGeom>
          <a:solidFill>
            <a:srgbClr val="1C6B44">
              <a:alpha val="1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15215" y="3482734"/>
            <a:ext cx="106367" cy="106367"/>
          </a:xfrm>
          <a:prstGeom prst="ellipse">
            <a:avLst/>
          </a:prstGeom>
          <a:solidFill>
            <a:srgbClr val="1C6B44">
              <a:alpha val="1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3985" y="3733587"/>
            <a:ext cx="164312" cy="164312"/>
          </a:xfrm>
          <a:prstGeom prst="ellipse">
            <a:avLst/>
          </a:prstGeom>
          <a:solidFill>
            <a:srgbClr val="1C6B44">
              <a:alpha val="21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40930" y="1622578"/>
            <a:ext cx="116893" cy="116893"/>
          </a:xfrm>
          <a:prstGeom prst="ellipse">
            <a:avLst/>
          </a:prstGeom>
          <a:solidFill>
            <a:srgbClr val="1C6B44">
              <a:alpha val="17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87324" y="1104987"/>
            <a:ext cx="93612" cy="93612"/>
          </a:xfrm>
          <a:prstGeom prst="ellipse">
            <a:avLst/>
          </a:prstGeom>
          <a:solidFill>
            <a:srgbClr val="1C6B44">
              <a:alpha val="21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C6B44"/>
          </a:solidFill>
          <a:ln/>
        </p:spPr>
      </p:sp>
      <p:sp>
        <p:nvSpPr>
          <p:cNvPr id="19" name="Shape 17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F6AD37">
              <a:alpha val="5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45720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2F2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Future Features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685800" y="10515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F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 attraction + moat expansion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10515600" y="502920"/>
            <a:ext cx="1005840" cy="502920"/>
          </a:xfrm>
          <a:prstGeom prst="roundRect">
            <a:avLst>
              <a:gd name="adj" fmla="val 27273"/>
            </a:avLst>
          </a:prstGeom>
          <a:solidFill>
            <a:srgbClr val="1C6B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515600" y="50292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11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20040" y="1691640"/>
            <a:ext cx="2697480" cy="2423160"/>
          </a:xfrm>
          <a:prstGeom prst="roundRect">
            <a:avLst>
              <a:gd name="adj" fmla="val 6792"/>
            </a:avLst>
          </a:prstGeom>
          <a:solidFill>
            <a:srgbClr val="FFFFFF"/>
          </a:solidFill>
          <a:ln w="6350">
            <a:solidFill>
              <a:srgbClr val="DFE5D9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376172" y="1874520"/>
            <a:ext cx="585216" cy="585216"/>
          </a:xfrm>
          <a:prstGeom prst="ellipse">
            <a:avLst/>
          </a:prstGeom>
          <a:solidFill>
            <a:srgbClr val="1C6B44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434694" y="1933042"/>
            <a:ext cx="468173" cy="468173"/>
          </a:xfrm>
          <a:prstGeom prst="ellipse">
            <a:avLst/>
          </a:prstGeom>
          <a:solidFill>
            <a:srgbClr val="1C6B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376172" y="1903781"/>
            <a:ext cx="585216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🗣️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7200" y="260604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B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Voice Plant Doctor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2926080"/>
            <a:ext cx="2423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6F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Hindi + 5 languages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6F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Voice symptom capture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6F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3–5× TAM expansion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960120" y="3794760"/>
            <a:ext cx="1417320" cy="256032"/>
          </a:xfrm>
          <a:prstGeom prst="roundRect">
            <a:avLst>
              <a:gd name="adj" fmla="val 50000"/>
            </a:avLst>
          </a:prstGeom>
          <a:solidFill>
            <a:srgbClr val="1C6B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60120" y="3794760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HIGH PRIORITY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3246120" y="1691640"/>
            <a:ext cx="2697480" cy="2423160"/>
          </a:xfrm>
          <a:prstGeom prst="roundRect">
            <a:avLst>
              <a:gd name="adj" fmla="val 6792"/>
            </a:avLst>
          </a:prstGeom>
          <a:solidFill>
            <a:srgbClr val="FFFFFF"/>
          </a:solidFill>
          <a:ln w="6350">
            <a:solidFill>
              <a:srgbClr val="DFE5D9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302252" y="1874520"/>
            <a:ext cx="585216" cy="585216"/>
          </a:xfrm>
          <a:prstGeom prst="ellipse">
            <a:avLst/>
          </a:prstGeom>
          <a:solidFill>
            <a:srgbClr val="4A90D9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360774" y="1933042"/>
            <a:ext cx="468173" cy="468173"/>
          </a:xfrm>
          <a:prstGeom prst="ellipse">
            <a:avLst/>
          </a:prstGeom>
          <a:solidFill>
            <a:srgbClr val="4A9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302252" y="1903781"/>
            <a:ext cx="585216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📡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3383280" y="260604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B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Sensor Fusion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3383280" y="2926080"/>
            <a:ext cx="2423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6F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BT soil sensors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6F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Photo + data diagnosis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6F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Premium tier unlock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886200" y="3794760"/>
            <a:ext cx="1417320" cy="256032"/>
          </a:xfrm>
          <a:prstGeom prst="roundRect">
            <a:avLst>
              <a:gd name="adj" fmla="val 50000"/>
            </a:avLst>
          </a:prstGeom>
          <a:solidFill>
            <a:srgbClr val="1C6B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886200" y="3794760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HIGH PRIORITY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6172200" y="1691640"/>
            <a:ext cx="2697480" cy="2423160"/>
          </a:xfrm>
          <a:prstGeom prst="roundRect">
            <a:avLst>
              <a:gd name="adj" fmla="val 6792"/>
            </a:avLst>
          </a:prstGeom>
          <a:solidFill>
            <a:srgbClr val="FFFFFF"/>
          </a:solidFill>
          <a:ln w="6350">
            <a:solidFill>
              <a:srgbClr val="DFE5D9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7228332" y="1874520"/>
            <a:ext cx="585216" cy="585216"/>
          </a:xfrm>
          <a:prstGeom prst="ellipse">
            <a:avLst/>
          </a:prstGeom>
          <a:solidFill>
            <a:srgbClr val="14B8A6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286854" y="1933042"/>
            <a:ext cx="468173" cy="468173"/>
          </a:xfrm>
          <a:prstGeom prst="ellipse">
            <a:avLst/>
          </a:prstGeom>
          <a:solidFill>
            <a:srgbClr val="14B8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228332" y="1903781"/>
            <a:ext cx="585216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📅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6309360" y="260604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B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Care Calendar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309360" y="2926080"/>
            <a:ext cx="2423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6F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Weather + lifecycle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6F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Push notifications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6F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2–3× weekly usage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812280" y="3794760"/>
            <a:ext cx="1417320" cy="256032"/>
          </a:xfrm>
          <a:prstGeom prst="roundRect">
            <a:avLst>
              <a:gd name="adj" fmla="val 50000"/>
            </a:avLst>
          </a:prstGeom>
          <a:solidFill>
            <a:srgbClr val="1C6B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812280" y="3794760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HIGH PRIORITY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9098280" y="1691640"/>
            <a:ext cx="2697480" cy="2423160"/>
          </a:xfrm>
          <a:prstGeom prst="roundRect">
            <a:avLst>
              <a:gd name="adj" fmla="val 6792"/>
            </a:avLst>
          </a:prstGeom>
          <a:solidFill>
            <a:srgbClr val="FFFFFF"/>
          </a:solidFill>
          <a:ln w="6350">
            <a:solidFill>
              <a:srgbClr val="DFE5D9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5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10154412" y="1874520"/>
            <a:ext cx="585216" cy="585216"/>
          </a:xfrm>
          <a:prstGeom prst="ellipse">
            <a:avLst/>
          </a:prstGeom>
          <a:solidFill>
            <a:srgbClr val="8B5CF6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0212934" y="1933042"/>
            <a:ext cx="468173" cy="468173"/>
          </a:xfrm>
          <a:prstGeom prst="ellipse">
            <a:avLst/>
          </a:prstGeom>
          <a:solidFill>
            <a:srgbClr val="8B5C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0154412" y="1903781"/>
            <a:ext cx="585216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📈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9235440" y="260604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B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Outcome Tracker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9235440" y="2926080"/>
            <a:ext cx="2423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6F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Before/after photos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6F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Recovery trajectory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6F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Efficacy dataset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9738360" y="3794760"/>
            <a:ext cx="1417320" cy="256032"/>
          </a:xfrm>
          <a:prstGeom prst="roundRect">
            <a:avLst>
              <a:gd name="adj" fmla="val 50000"/>
            </a:avLst>
          </a:prstGeom>
          <a:solidFill>
            <a:srgbClr val="F6AD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738360" y="3794760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MED PRIORITY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320040" y="4297680"/>
            <a:ext cx="2697480" cy="2423160"/>
          </a:xfrm>
          <a:prstGeom prst="roundRect">
            <a:avLst>
              <a:gd name="adj" fmla="val 6792"/>
            </a:avLst>
          </a:prstGeom>
          <a:solidFill>
            <a:srgbClr val="FFFFFF"/>
          </a:solidFill>
          <a:ln w="6350">
            <a:solidFill>
              <a:srgbClr val="DFE5D9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5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1376172" y="4480560"/>
            <a:ext cx="585216" cy="585216"/>
          </a:xfrm>
          <a:prstGeom prst="ellipse">
            <a:avLst/>
          </a:prstGeom>
          <a:solidFill>
            <a:srgbClr val="F6AD37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434694" y="4539082"/>
            <a:ext cx="468173" cy="468173"/>
          </a:xfrm>
          <a:prstGeom prst="ellipse">
            <a:avLst/>
          </a:prstGeom>
          <a:solidFill>
            <a:srgbClr val="F6AD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376172" y="4509821"/>
            <a:ext cx="585216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🏪</a:t>
            </a:r>
            <a:endParaRPr lang="en-US" sz="1400" dirty="0"/>
          </a:p>
        </p:txBody>
      </p:sp>
      <p:sp>
        <p:nvSpPr>
          <p:cNvPr id="60" name="Text 58"/>
          <p:cNvSpPr/>
          <p:nvPr/>
        </p:nvSpPr>
        <p:spPr>
          <a:xfrm>
            <a:off x="457200" y="521208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B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Marketplace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457200" y="5532120"/>
            <a:ext cx="2423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6F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Local nurseries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6F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Service providers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6F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15–25% take rate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960120" y="6400800"/>
            <a:ext cx="1417320" cy="256032"/>
          </a:xfrm>
          <a:prstGeom prst="roundRect">
            <a:avLst>
              <a:gd name="adj" fmla="val 50000"/>
            </a:avLst>
          </a:prstGeom>
          <a:solidFill>
            <a:srgbClr val="F6AD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60120" y="6400800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MED PRIORITY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3246120" y="4297680"/>
            <a:ext cx="2697480" cy="2423160"/>
          </a:xfrm>
          <a:prstGeom prst="roundRect">
            <a:avLst>
              <a:gd name="adj" fmla="val 6792"/>
            </a:avLst>
          </a:prstGeom>
          <a:solidFill>
            <a:srgbClr val="FFFFFF"/>
          </a:solidFill>
          <a:ln w="6350">
            <a:solidFill>
              <a:srgbClr val="DFE5D9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5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4302252" y="4480560"/>
            <a:ext cx="585216" cy="585216"/>
          </a:xfrm>
          <a:prstGeom prst="ellipse">
            <a:avLst/>
          </a:prstGeom>
          <a:solidFill>
            <a:srgbClr val="EC4899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4360774" y="4539082"/>
            <a:ext cx="468173" cy="468173"/>
          </a:xfrm>
          <a:prstGeom prst="ellipse">
            <a:avLst/>
          </a:prstGeom>
          <a:solidFill>
            <a:srgbClr val="EC489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302252" y="4509821"/>
            <a:ext cx="585216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🎮</a:t>
            </a:r>
            <a:endParaRPr lang="en-US" sz="1400" dirty="0"/>
          </a:p>
        </p:txBody>
      </p:sp>
      <p:sp>
        <p:nvSpPr>
          <p:cNvPr id="68" name="Text 66"/>
          <p:cNvSpPr/>
          <p:nvPr/>
        </p:nvSpPr>
        <p:spPr>
          <a:xfrm>
            <a:off x="3383280" y="521208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B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Gamification</a:t>
            </a:r>
            <a:endParaRPr lang="en-US" sz="1200" dirty="0"/>
          </a:p>
        </p:txBody>
      </p:sp>
      <p:sp>
        <p:nvSpPr>
          <p:cNvPr id="69" name="Text 67"/>
          <p:cNvSpPr/>
          <p:nvPr/>
        </p:nvSpPr>
        <p:spPr>
          <a:xfrm>
            <a:off x="3383280" y="5532120"/>
            <a:ext cx="2423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6F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Leaderboards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6F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Care streaks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6F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K-factor &gt; 1.2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3886200" y="6400800"/>
            <a:ext cx="1417320" cy="256032"/>
          </a:xfrm>
          <a:prstGeom prst="roundRect">
            <a:avLst>
              <a:gd name="adj" fmla="val 50000"/>
            </a:avLst>
          </a:prstGeom>
          <a:solidFill>
            <a:srgbClr val="F6AD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886200" y="6400800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MED PRIORITY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6172200" y="4297680"/>
            <a:ext cx="2697480" cy="2423160"/>
          </a:xfrm>
          <a:prstGeom prst="roundRect">
            <a:avLst>
              <a:gd name="adj" fmla="val 6792"/>
            </a:avLst>
          </a:prstGeom>
          <a:solidFill>
            <a:srgbClr val="FFFFFF"/>
          </a:solidFill>
          <a:ln w="6350">
            <a:solidFill>
              <a:srgbClr val="DFE5D9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5000"/>
              </a:srgbClr>
            </a:outerShdw>
          </a:effectLst>
        </p:spPr>
      </p:sp>
      <p:sp>
        <p:nvSpPr>
          <p:cNvPr id="73" name="Shape 71"/>
          <p:cNvSpPr/>
          <p:nvPr/>
        </p:nvSpPr>
        <p:spPr>
          <a:xfrm>
            <a:off x="7228332" y="4480560"/>
            <a:ext cx="585216" cy="585216"/>
          </a:xfrm>
          <a:prstGeom prst="ellipse">
            <a:avLst/>
          </a:prstGeom>
          <a:solidFill>
            <a:srgbClr val="1C6B44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286854" y="4539082"/>
            <a:ext cx="468173" cy="468173"/>
          </a:xfrm>
          <a:prstGeom prst="ellipse">
            <a:avLst/>
          </a:prstGeom>
          <a:solidFill>
            <a:srgbClr val="1C6B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228332" y="4509821"/>
            <a:ext cx="585216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🤖</a:t>
            </a:r>
            <a:endParaRPr lang="en-US" sz="1400" dirty="0"/>
          </a:p>
        </p:txBody>
      </p:sp>
      <p:sp>
        <p:nvSpPr>
          <p:cNvPr id="76" name="Text 74"/>
          <p:cNvSpPr/>
          <p:nvPr/>
        </p:nvSpPr>
        <p:spPr>
          <a:xfrm>
            <a:off x="6309360" y="521208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B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AI Prediction</a:t>
            </a:r>
            <a:endParaRPr lang="en-US" sz="1200" dirty="0"/>
          </a:p>
        </p:txBody>
      </p:sp>
      <p:sp>
        <p:nvSpPr>
          <p:cNvPr id="77" name="Text 75"/>
          <p:cNvSpPr/>
          <p:nvPr/>
        </p:nvSpPr>
        <p:spPr>
          <a:xfrm>
            <a:off x="6309360" y="5532120"/>
            <a:ext cx="2423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6F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Growth models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6F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Recovery timeline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6F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Patent-worthy IP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6812280" y="6400800"/>
            <a:ext cx="1417320" cy="256032"/>
          </a:xfrm>
          <a:prstGeom prst="roundRect">
            <a:avLst>
              <a:gd name="adj" fmla="val 50000"/>
            </a:avLst>
          </a:prstGeom>
          <a:solidFill>
            <a:srgbClr val="5C6F6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812280" y="6400800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LATER PRIORITY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9098280" y="4297680"/>
            <a:ext cx="2697480" cy="2423160"/>
          </a:xfrm>
          <a:prstGeom prst="roundRect">
            <a:avLst>
              <a:gd name="adj" fmla="val 6792"/>
            </a:avLst>
          </a:prstGeom>
          <a:solidFill>
            <a:srgbClr val="FFFFFF"/>
          </a:solidFill>
          <a:ln w="6350">
            <a:solidFill>
              <a:srgbClr val="DFE5D9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5000"/>
              </a:srgbClr>
            </a:outerShdw>
          </a:effectLst>
        </p:spPr>
      </p:sp>
      <p:sp>
        <p:nvSpPr>
          <p:cNvPr id="81" name="Shape 79"/>
          <p:cNvSpPr/>
          <p:nvPr/>
        </p:nvSpPr>
        <p:spPr>
          <a:xfrm>
            <a:off x="10154412" y="4480560"/>
            <a:ext cx="585216" cy="585216"/>
          </a:xfrm>
          <a:prstGeom prst="ellipse">
            <a:avLst/>
          </a:prstGeom>
          <a:solidFill>
            <a:srgbClr val="4A90D9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10212934" y="4539082"/>
            <a:ext cx="468173" cy="468173"/>
          </a:xfrm>
          <a:prstGeom prst="ellipse">
            <a:avLst/>
          </a:prstGeom>
          <a:solidFill>
            <a:srgbClr val="4A9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10154412" y="4509821"/>
            <a:ext cx="585216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🌐</a:t>
            </a:r>
            <a:endParaRPr lang="en-US" sz="1400" dirty="0"/>
          </a:p>
        </p:txBody>
      </p:sp>
      <p:sp>
        <p:nvSpPr>
          <p:cNvPr id="84" name="Text 82"/>
          <p:cNvSpPr/>
          <p:nvPr/>
        </p:nvSpPr>
        <p:spPr>
          <a:xfrm>
            <a:off x="9235440" y="521208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B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IoT Garden</a:t>
            </a:r>
            <a:endParaRPr lang="en-US" sz="1200" dirty="0"/>
          </a:p>
        </p:txBody>
      </p:sp>
      <p:sp>
        <p:nvSpPr>
          <p:cNvPr id="85" name="Text 83"/>
          <p:cNvSpPr/>
          <p:nvPr/>
        </p:nvSpPr>
        <p:spPr>
          <a:xfrm>
            <a:off x="9235440" y="5532120"/>
            <a:ext cx="2423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6F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Auto-watering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6F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Climate control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6F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home integration</a:t>
            </a:r>
            <a:endParaRPr lang="en-US" sz="1000" dirty="0"/>
          </a:p>
        </p:txBody>
      </p:sp>
      <p:sp>
        <p:nvSpPr>
          <p:cNvPr id="86" name="Shape 84"/>
          <p:cNvSpPr/>
          <p:nvPr/>
        </p:nvSpPr>
        <p:spPr>
          <a:xfrm>
            <a:off x="9738360" y="6400800"/>
            <a:ext cx="1417320" cy="256032"/>
          </a:xfrm>
          <a:prstGeom prst="roundRect">
            <a:avLst>
              <a:gd name="adj" fmla="val 50000"/>
            </a:avLst>
          </a:prstGeom>
          <a:solidFill>
            <a:srgbClr val="5C6F6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9738360" y="6400800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LATER PRIORITY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F25"/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-2743200"/>
            <a:ext cx="7315200" cy="7315200"/>
          </a:xfrm>
          <a:prstGeom prst="ellipse">
            <a:avLst/>
          </a:prstGeom>
          <a:solidFill>
            <a:srgbClr val="1C6B44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-3657600"/>
            <a:ext cx="8229600" cy="8229600"/>
          </a:xfrm>
          <a:prstGeom prst="ellipse">
            <a:avLst/>
          </a:prstGeom>
          <a:solidFill>
            <a:srgbClr val="B1F24B">
              <a:alpha val="7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0" y="3657600"/>
            <a:ext cx="6400800" cy="6400800"/>
          </a:xfrm>
          <a:prstGeom prst="ellipse">
            <a:avLst/>
          </a:prstGeom>
          <a:solidFill>
            <a:srgbClr val="F6AD37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371487" y="5761420"/>
            <a:ext cx="148121" cy="148121"/>
          </a:xfrm>
          <a:prstGeom prst="ellipse">
            <a:avLst/>
          </a:prstGeom>
          <a:solidFill>
            <a:srgbClr val="B1F24B">
              <a:alpha val="24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10207" y="1053005"/>
            <a:ext cx="62959" cy="62959"/>
          </a:xfrm>
          <a:prstGeom prst="ellipse">
            <a:avLst/>
          </a:prstGeom>
          <a:solidFill>
            <a:srgbClr val="B1F24B">
              <a:alpha val="13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24362" y="4613135"/>
            <a:ext cx="101914" cy="101914"/>
          </a:xfrm>
          <a:prstGeom prst="ellipse">
            <a:avLst/>
          </a:prstGeom>
          <a:solidFill>
            <a:srgbClr val="B1F24B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621209" y="2141183"/>
            <a:ext cx="128148" cy="128148"/>
          </a:xfrm>
          <a:prstGeom prst="ellipse">
            <a:avLst/>
          </a:prstGeom>
          <a:solidFill>
            <a:srgbClr val="B1F24B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370254" y="3817735"/>
            <a:ext cx="85463" cy="85463"/>
          </a:xfrm>
          <a:prstGeom prst="ellipse">
            <a:avLst/>
          </a:prstGeom>
          <a:solidFill>
            <a:srgbClr val="B1F24B">
              <a:alpha val="1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87443" y="5036699"/>
            <a:ext cx="96790" cy="96790"/>
          </a:xfrm>
          <a:prstGeom prst="ellipse">
            <a:avLst/>
          </a:prstGeom>
          <a:solidFill>
            <a:srgbClr val="B1F24B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33056" y="760306"/>
            <a:ext cx="79117" cy="79117"/>
          </a:xfrm>
          <a:prstGeom prst="ellipse">
            <a:avLst/>
          </a:prstGeom>
          <a:solidFill>
            <a:srgbClr val="B1F24B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1244" y="956668"/>
            <a:ext cx="138755" cy="138755"/>
          </a:xfrm>
          <a:prstGeom prst="ellipse">
            <a:avLst/>
          </a:prstGeom>
          <a:solidFill>
            <a:srgbClr val="B1F24B">
              <a:alpha val="24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12734" y="4270238"/>
            <a:ext cx="55314" cy="55314"/>
          </a:xfrm>
          <a:prstGeom prst="ellipse">
            <a:avLst/>
          </a:prstGeom>
          <a:solidFill>
            <a:srgbClr val="B1F24B">
              <a:alpha val="21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769571" y="4207633"/>
            <a:ext cx="75820" cy="75820"/>
          </a:xfrm>
          <a:prstGeom prst="ellipse">
            <a:avLst/>
          </a:prstGeom>
          <a:solidFill>
            <a:srgbClr val="B1F24B">
              <a:alpha val="2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272227" y="3493333"/>
            <a:ext cx="76589" cy="76589"/>
          </a:xfrm>
          <a:prstGeom prst="ellipse">
            <a:avLst/>
          </a:prstGeom>
          <a:solidFill>
            <a:srgbClr val="B1F24B">
              <a:alpha val="21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78128" y="5629830"/>
            <a:ext cx="109779" cy="109779"/>
          </a:xfrm>
          <a:prstGeom prst="ellipse">
            <a:avLst/>
          </a:prstGeom>
          <a:solidFill>
            <a:srgbClr val="B1F24B">
              <a:alpha val="21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1F24B"/>
          </a:solidFill>
          <a:ln/>
        </p:spPr>
      </p:sp>
      <p:sp>
        <p:nvSpPr>
          <p:cNvPr id="19" name="Shape 17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F6AD37">
              <a:alpha val="5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45720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Defensibility — Why We Win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685800" y="10515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DDD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compounding moats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10515600" y="502920"/>
            <a:ext cx="1005840" cy="502920"/>
          </a:xfrm>
          <a:prstGeom prst="roundRect">
            <a:avLst>
              <a:gd name="adj" fmla="val 27273"/>
            </a:avLst>
          </a:prstGeom>
          <a:solidFill>
            <a:srgbClr val="1C6B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515600" y="50292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12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65760" y="1828800"/>
            <a:ext cx="3611880" cy="233172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6350">
            <a:solidFill>
              <a:srgbClr val="DFE5D9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879092" y="2011680"/>
            <a:ext cx="585216" cy="585216"/>
          </a:xfrm>
          <a:prstGeom prst="ellipse">
            <a:avLst/>
          </a:prstGeom>
          <a:solidFill>
            <a:srgbClr val="B1F24B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937614" y="2070202"/>
            <a:ext cx="468173" cy="468173"/>
          </a:xfrm>
          <a:prstGeom prst="ellipse">
            <a:avLst/>
          </a:prstGeom>
          <a:solidFill>
            <a:srgbClr val="B1F2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879092" y="2040941"/>
            <a:ext cx="585216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💾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02920" y="274320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B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Data Moat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02920" y="3063240"/>
            <a:ext cx="3337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6F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diagnosis logged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6F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India-specific dataset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6F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2–3yr to replicate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206240" y="1828800"/>
            <a:ext cx="3611880" cy="233172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6350">
            <a:solidFill>
              <a:srgbClr val="DFE5D9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719572" y="2011680"/>
            <a:ext cx="585216" cy="585216"/>
          </a:xfrm>
          <a:prstGeom prst="ellipse">
            <a:avLst/>
          </a:prstGeom>
          <a:solidFill>
            <a:srgbClr val="14B8A6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778094" y="2070202"/>
            <a:ext cx="468173" cy="468173"/>
          </a:xfrm>
          <a:prstGeom prst="ellipse">
            <a:avLst/>
          </a:prstGeom>
          <a:solidFill>
            <a:srgbClr val="14B8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719572" y="2040941"/>
            <a:ext cx="585216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📡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343400" y="274320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B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Distribution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343400" y="3063240"/>
            <a:ext cx="3337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6F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Scanner → chatbot → shop → community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6F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touchpoints in 1 funnel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8046720" y="1828800"/>
            <a:ext cx="3611880" cy="233172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6350">
            <a:solidFill>
              <a:srgbClr val="DFE5D9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9560052" y="2011680"/>
            <a:ext cx="585216" cy="585216"/>
          </a:xfrm>
          <a:prstGeom prst="ellipse">
            <a:avLst/>
          </a:prstGeom>
          <a:solidFill>
            <a:srgbClr val="4A90D9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618574" y="2070202"/>
            <a:ext cx="468173" cy="468173"/>
          </a:xfrm>
          <a:prstGeom prst="ellipse">
            <a:avLst/>
          </a:prstGeom>
          <a:solidFill>
            <a:srgbClr val="4A9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560052" y="2040941"/>
            <a:ext cx="585216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🔁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8183880" y="274320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B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Behavior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8183880" y="3063240"/>
            <a:ext cx="3337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6F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Care cycles = monthly habit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6F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 one-time transactions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65760" y="4343400"/>
            <a:ext cx="3611880" cy="233172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6350">
            <a:solidFill>
              <a:srgbClr val="DFE5D9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5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1879092" y="4526280"/>
            <a:ext cx="585216" cy="585216"/>
          </a:xfrm>
          <a:prstGeom prst="ellipse">
            <a:avLst/>
          </a:prstGeom>
          <a:solidFill>
            <a:srgbClr val="F6AD37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937614" y="4584802"/>
            <a:ext cx="468173" cy="468173"/>
          </a:xfrm>
          <a:prstGeom prst="ellipse">
            <a:avLst/>
          </a:prstGeom>
          <a:solidFill>
            <a:srgbClr val="F6AD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879092" y="4555541"/>
            <a:ext cx="585216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🛡️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502920" y="525780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B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Trust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502920" y="5577840"/>
            <a:ext cx="3337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6F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Reference-backed solutions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6F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Verification-first diagnosis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206240" y="4343400"/>
            <a:ext cx="3611880" cy="233172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6350">
            <a:solidFill>
              <a:srgbClr val="DFE5D9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5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5719572" y="4526280"/>
            <a:ext cx="585216" cy="585216"/>
          </a:xfrm>
          <a:prstGeom prst="ellipse">
            <a:avLst/>
          </a:prstGeom>
          <a:solidFill>
            <a:srgbClr val="8B5CF6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778094" y="4584802"/>
            <a:ext cx="468173" cy="468173"/>
          </a:xfrm>
          <a:prstGeom prst="ellipse">
            <a:avLst/>
          </a:prstGeom>
          <a:solidFill>
            <a:srgbClr val="8B5C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719572" y="4555541"/>
            <a:ext cx="585216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🌐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4343400" y="525780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B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Network Effects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4343400" y="5577840"/>
            <a:ext cx="3337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6F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More users = better data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6F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= better diagnosis = more users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8046720" y="4343400"/>
            <a:ext cx="3611880" cy="233172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6350">
            <a:solidFill>
              <a:srgbClr val="DFE5D9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5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9560052" y="4526280"/>
            <a:ext cx="585216" cy="585216"/>
          </a:xfrm>
          <a:prstGeom prst="ellipse">
            <a:avLst/>
          </a:prstGeom>
          <a:solidFill>
            <a:srgbClr val="1C6B44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9618574" y="4584802"/>
            <a:ext cx="468173" cy="468173"/>
          </a:xfrm>
          <a:prstGeom prst="ellipse">
            <a:avLst/>
          </a:prstGeom>
          <a:solidFill>
            <a:srgbClr val="1C6B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560052" y="4555541"/>
            <a:ext cx="585216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🇮🇳</a:t>
            </a:r>
            <a:endParaRPr lang="en-US" sz="1400" dirty="0"/>
          </a:p>
        </p:txBody>
      </p:sp>
      <p:sp>
        <p:nvSpPr>
          <p:cNvPr id="58" name="Text 56"/>
          <p:cNvSpPr/>
          <p:nvPr/>
        </p:nvSpPr>
        <p:spPr>
          <a:xfrm>
            <a:off x="8183880" y="525780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B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Localization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8183880" y="5577840"/>
            <a:ext cx="3337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6F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100+ desi remedies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6F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Indian plants &amp; climates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6F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12–18mo to replicate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685800" y="6492240"/>
            <a:ext cx="10058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Integration depth + data flywheel = hard to clone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2E8"/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-2743200"/>
            <a:ext cx="7315200" cy="7315200"/>
          </a:xfrm>
          <a:prstGeom prst="ellipse">
            <a:avLst/>
          </a:prstGeom>
          <a:solidFill>
            <a:srgbClr val="1C6B44">
              <a:alpha val="1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-3657600"/>
            <a:ext cx="8229600" cy="8229600"/>
          </a:xfrm>
          <a:prstGeom prst="ellipse">
            <a:avLst/>
          </a:prstGeom>
          <a:solidFill>
            <a:srgbClr val="F6AD37">
              <a:alpha val="7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0" y="3657600"/>
            <a:ext cx="6400800" cy="6400800"/>
          </a:xfrm>
          <a:prstGeom prst="ellipse">
            <a:avLst/>
          </a:prstGeom>
          <a:solidFill>
            <a:srgbClr val="B1F24B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69566" y="5621119"/>
            <a:ext cx="138674" cy="138674"/>
          </a:xfrm>
          <a:prstGeom prst="ellipse">
            <a:avLst/>
          </a:prstGeom>
          <a:solidFill>
            <a:srgbClr val="1C6B44">
              <a:alpha val="17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71764" y="4299762"/>
            <a:ext cx="69334" cy="69334"/>
          </a:xfrm>
          <a:prstGeom prst="ellipse">
            <a:avLst/>
          </a:prstGeom>
          <a:solidFill>
            <a:srgbClr val="1C6B44">
              <a:alpha val="24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834395" y="2932397"/>
            <a:ext cx="143263" cy="143263"/>
          </a:xfrm>
          <a:prstGeom prst="ellipse">
            <a:avLst/>
          </a:prstGeom>
          <a:solidFill>
            <a:srgbClr val="1C6B44">
              <a:alpha val="1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90609" y="3481992"/>
            <a:ext cx="96308" cy="96308"/>
          </a:xfrm>
          <a:prstGeom prst="ellipse">
            <a:avLst/>
          </a:prstGeom>
          <a:solidFill>
            <a:srgbClr val="1C6B44">
              <a:alpha val="2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022813" y="4230681"/>
            <a:ext cx="58651" cy="58651"/>
          </a:xfrm>
          <a:prstGeom prst="ellipse">
            <a:avLst/>
          </a:prstGeom>
          <a:solidFill>
            <a:srgbClr val="1C6B44">
              <a:alpha val="14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826683" y="1778860"/>
            <a:ext cx="74396" cy="74396"/>
          </a:xfrm>
          <a:prstGeom prst="ellipse">
            <a:avLst/>
          </a:prstGeom>
          <a:solidFill>
            <a:srgbClr val="1C6B44">
              <a:alpha val="17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22757" y="2913444"/>
            <a:ext cx="76149" cy="76149"/>
          </a:xfrm>
          <a:prstGeom prst="ellipse">
            <a:avLst/>
          </a:prstGeom>
          <a:solidFill>
            <a:srgbClr val="1C6B44">
              <a:alpha val="24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54979" y="5718299"/>
            <a:ext cx="131828" cy="131828"/>
          </a:xfrm>
          <a:prstGeom prst="ellipse">
            <a:avLst/>
          </a:prstGeom>
          <a:solidFill>
            <a:srgbClr val="1C6B44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548669" y="4236126"/>
            <a:ext cx="55332" cy="55332"/>
          </a:xfrm>
          <a:prstGeom prst="ellipse">
            <a:avLst/>
          </a:prstGeom>
          <a:solidFill>
            <a:srgbClr val="1C6B44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05682" y="3726796"/>
            <a:ext cx="88129" cy="88129"/>
          </a:xfrm>
          <a:prstGeom prst="ellipse">
            <a:avLst/>
          </a:prstGeom>
          <a:solidFill>
            <a:srgbClr val="1C6B44">
              <a:alpha val="17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143110" y="3400261"/>
            <a:ext cx="55298" cy="55298"/>
          </a:xfrm>
          <a:prstGeom prst="ellipse">
            <a:avLst/>
          </a:prstGeom>
          <a:solidFill>
            <a:srgbClr val="1C6B44">
              <a:alpha val="2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990501" y="1045449"/>
            <a:ext cx="108781" cy="108781"/>
          </a:xfrm>
          <a:prstGeom prst="ellipse">
            <a:avLst/>
          </a:prstGeom>
          <a:solidFill>
            <a:srgbClr val="1C6B44">
              <a:alpha val="14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C6B44"/>
          </a:solidFill>
          <a:ln/>
        </p:spPr>
      </p:sp>
      <p:sp>
        <p:nvSpPr>
          <p:cNvPr id="19" name="Shape 17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F6AD37">
              <a:alpha val="5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45720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2F2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24-Month Roadmap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685800" y="10515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F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Stage-gated by retention &amp; unit economics milestones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10515600" y="502920"/>
            <a:ext cx="1005840" cy="502920"/>
          </a:xfrm>
          <a:prstGeom prst="roundRect">
            <a:avLst>
              <a:gd name="adj" fmla="val 27273"/>
            </a:avLst>
          </a:prstGeom>
          <a:solidFill>
            <a:srgbClr val="1C6B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515600" y="50292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13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57200" y="201168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1C6B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20116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0–6 mo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103120" y="2167128"/>
            <a:ext cx="9464040" cy="54864"/>
          </a:xfrm>
          <a:prstGeom prst="rect">
            <a:avLst/>
          </a:prstGeom>
          <a:solidFill>
            <a:srgbClr val="1C6B44">
              <a:alpha val="4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286000" y="2103120"/>
            <a:ext cx="182880" cy="182880"/>
          </a:xfrm>
          <a:prstGeom prst="ellipse">
            <a:avLst/>
          </a:prstGeom>
          <a:solidFill>
            <a:srgbClr val="1C6B4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011680" y="2359152"/>
            <a:ext cx="21214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F2B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D30 retention loops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133088" y="2103120"/>
            <a:ext cx="182880" cy="182880"/>
          </a:xfrm>
          <a:prstGeom prst="ellipse">
            <a:avLst/>
          </a:prstGeom>
          <a:solidFill>
            <a:srgbClr val="1C6B4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58768" y="2359152"/>
            <a:ext cx="21214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F2B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Subscription alpha ₹99/mo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980176" y="2103120"/>
            <a:ext cx="182880" cy="182880"/>
          </a:xfrm>
          <a:prstGeom prst="ellipse">
            <a:avLst/>
          </a:prstGeom>
          <a:solidFill>
            <a:srgbClr val="1C6B4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705856" y="2359152"/>
            <a:ext cx="21214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F2B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Scanner UX upgrade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827264" y="2103120"/>
            <a:ext cx="182880" cy="182880"/>
          </a:xfrm>
          <a:prstGeom prst="ellipse">
            <a:avLst/>
          </a:prstGeom>
          <a:solidFill>
            <a:srgbClr val="1C6B4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552944" y="2359152"/>
            <a:ext cx="21214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F2B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Community seeding (5 cities)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9674352" y="2103120"/>
            <a:ext cx="182880" cy="182880"/>
          </a:xfrm>
          <a:prstGeom prst="ellipse">
            <a:avLst/>
          </a:prstGeom>
          <a:solidFill>
            <a:srgbClr val="1C6B4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400032" y="2359152"/>
            <a:ext cx="21214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F2B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Referral engine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57200" y="320040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32004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6–12 mo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2103120" y="3355848"/>
            <a:ext cx="9464040" cy="54864"/>
          </a:xfrm>
          <a:prstGeom prst="rect">
            <a:avLst/>
          </a:prstGeom>
          <a:solidFill>
            <a:srgbClr val="14B8A6">
              <a:alpha val="4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286000" y="3291840"/>
            <a:ext cx="182880" cy="182880"/>
          </a:xfrm>
          <a:prstGeom prst="ellipse">
            <a:avLst/>
          </a:prstGeom>
          <a:solidFill>
            <a:srgbClr val="14B8A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011680" y="3547872"/>
            <a:ext cx="21214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F2B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Hindi + regional voice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133088" y="3291840"/>
            <a:ext cx="182880" cy="182880"/>
          </a:xfrm>
          <a:prstGeom prst="ellipse">
            <a:avLst/>
          </a:prstGeom>
          <a:solidFill>
            <a:srgbClr val="14B8A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858768" y="3547872"/>
            <a:ext cx="21214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F2B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Care calendar + push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980176" y="3291840"/>
            <a:ext cx="182880" cy="182880"/>
          </a:xfrm>
          <a:prstGeom prst="ellipse">
            <a:avLst/>
          </a:prstGeom>
          <a:solidFill>
            <a:srgbClr val="14B8A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705856" y="3547872"/>
            <a:ext cx="21214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F2B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3-tier subscription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7827264" y="3291840"/>
            <a:ext cx="182880" cy="182880"/>
          </a:xfrm>
          <a:prstGeom prst="ellipse">
            <a:avLst/>
          </a:prstGeom>
          <a:solidFill>
            <a:srgbClr val="14B8A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552944" y="3547872"/>
            <a:ext cx="21214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F2B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Outcome tracker v1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9674352" y="3291840"/>
            <a:ext cx="182880" cy="182880"/>
          </a:xfrm>
          <a:prstGeom prst="ellipse">
            <a:avLst/>
          </a:prstGeom>
          <a:solidFill>
            <a:srgbClr val="14B8A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400032" y="3547872"/>
            <a:ext cx="21214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F2B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 15 cities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57200" y="438912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4A9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57200" y="43891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12–18 mo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2103120" y="4544568"/>
            <a:ext cx="9464040" cy="54864"/>
          </a:xfrm>
          <a:prstGeom prst="rect">
            <a:avLst/>
          </a:prstGeom>
          <a:solidFill>
            <a:srgbClr val="4A90D9">
              <a:alpha val="4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286000" y="4480560"/>
            <a:ext cx="182880" cy="182880"/>
          </a:xfrm>
          <a:prstGeom prst="ellipse">
            <a:avLst/>
          </a:prstGeom>
          <a:solidFill>
            <a:srgbClr val="4A90D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011680" y="4736592"/>
            <a:ext cx="21214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F2B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Nursery marketplace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133088" y="4480560"/>
            <a:ext cx="182880" cy="182880"/>
          </a:xfrm>
          <a:prstGeom prst="ellipse">
            <a:avLst/>
          </a:prstGeom>
          <a:solidFill>
            <a:srgbClr val="4A90D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858768" y="4736592"/>
            <a:ext cx="21214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F2B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Soil sensor bundle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5980176" y="4480560"/>
            <a:ext cx="182880" cy="182880"/>
          </a:xfrm>
          <a:prstGeom prst="ellipse">
            <a:avLst/>
          </a:prstGeom>
          <a:solidFill>
            <a:srgbClr val="4A90D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705856" y="4736592"/>
            <a:ext cx="21214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F2B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B2B pilot (10 societies)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7827264" y="4480560"/>
            <a:ext cx="182880" cy="182880"/>
          </a:xfrm>
          <a:prstGeom prst="ellipse">
            <a:avLst/>
          </a:prstGeom>
          <a:solidFill>
            <a:srgbClr val="4A90D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552944" y="4736592"/>
            <a:ext cx="21214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F2B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500+ knowledge entries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9674352" y="4480560"/>
            <a:ext cx="182880" cy="182880"/>
          </a:xfrm>
          <a:prstGeom prst="ellipse">
            <a:avLst/>
          </a:prstGeom>
          <a:solidFill>
            <a:srgbClr val="4A90D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9400032" y="4736592"/>
            <a:ext cx="21214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F2B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ML model v1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457200" y="557784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57200" y="55778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18–24 mo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2103120" y="5733288"/>
            <a:ext cx="9464040" cy="54864"/>
          </a:xfrm>
          <a:prstGeom prst="rect">
            <a:avLst/>
          </a:prstGeom>
          <a:solidFill>
            <a:srgbClr val="8B5CF6">
              <a:alpha val="4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286000" y="5669280"/>
            <a:ext cx="182880" cy="182880"/>
          </a:xfrm>
          <a:prstGeom prst="ellipse">
            <a:avLst/>
          </a:prstGeom>
          <a:solidFill>
            <a:srgbClr val="8B5CF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011680" y="5925312"/>
            <a:ext cx="21214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F2B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 50+ cities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4133088" y="5669280"/>
            <a:ext cx="182880" cy="182880"/>
          </a:xfrm>
          <a:prstGeom prst="ellipse">
            <a:avLst/>
          </a:prstGeom>
          <a:solidFill>
            <a:srgbClr val="8B5CF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858768" y="5925312"/>
            <a:ext cx="21214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F2B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Corporate green packages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5980176" y="5669280"/>
            <a:ext cx="182880" cy="182880"/>
          </a:xfrm>
          <a:prstGeom prst="ellipse">
            <a:avLst/>
          </a:prstGeom>
          <a:solidFill>
            <a:srgbClr val="8B5CF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705856" y="5925312"/>
            <a:ext cx="21214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F2B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IoT pilot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7827264" y="5669280"/>
            <a:ext cx="182880" cy="182880"/>
          </a:xfrm>
          <a:prstGeom prst="ellipse">
            <a:avLst/>
          </a:prstGeom>
          <a:solidFill>
            <a:srgbClr val="8B5CF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552944" y="5925312"/>
            <a:ext cx="21214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F2B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growth prediction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9674352" y="5669280"/>
            <a:ext cx="182880" cy="182880"/>
          </a:xfrm>
          <a:prstGeom prst="ellipse">
            <a:avLst/>
          </a:prstGeom>
          <a:solidFill>
            <a:srgbClr val="8B5CF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9400032" y="5925312"/>
            <a:ext cx="21214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F2B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Series A ready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685800" y="6492240"/>
            <a:ext cx="10058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F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phase unlocked only when retention &amp; payback milestones are met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6B44"/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-2743200"/>
            <a:ext cx="7315200" cy="7315200"/>
          </a:xfrm>
          <a:prstGeom prst="ellipse">
            <a:avLst/>
          </a:prstGeom>
          <a:solidFill>
            <a:srgbClr val="B1F24B">
              <a:alpha val="1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-3657600"/>
            <a:ext cx="8229600" cy="8229600"/>
          </a:xfrm>
          <a:prstGeom prst="ellipse">
            <a:avLst/>
          </a:prstGeom>
          <a:solidFill>
            <a:srgbClr val="F6AD37">
              <a:alpha val="7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0" y="3657600"/>
            <a:ext cx="6400800" cy="6400800"/>
          </a:xfrm>
          <a:prstGeom prst="ellipse">
            <a:avLst/>
          </a:prstGeom>
          <a:solidFill>
            <a:srgbClr val="B1F24B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44774" y="3969284"/>
            <a:ext cx="132061" cy="132061"/>
          </a:xfrm>
          <a:prstGeom prst="ellipse">
            <a:avLst/>
          </a:prstGeom>
          <a:solidFill>
            <a:srgbClr val="B1F24B">
              <a:alpha val="21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80338" y="5041128"/>
            <a:ext cx="140337" cy="140337"/>
          </a:xfrm>
          <a:prstGeom prst="ellipse">
            <a:avLst/>
          </a:prstGeom>
          <a:solidFill>
            <a:srgbClr val="B1F24B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968155" y="4483766"/>
            <a:ext cx="128655" cy="128655"/>
          </a:xfrm>
          <a:prstGeom prst="ellipse">
            <a:avLst/>
          </a:prstGeom>
          <a:solidFill>
            <a:srgbClr val="B1F24B">
              <a:alpha val="23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977799" y="1233427"/>
            <a:ext cx="57055" cy="57055"/>
          </a:xfrm>
          <a:prstGeom prst="ellipse">
            <a:avLst/>
          </a:prstGeom>
          <a:solidFill>
            <a:srgbClr val="B1F24B">
              <a:alpha val="23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52450" y="5203910"/>
            <a:ext cx="129237" cy="129237"/>
          </a:xfrm>
          <a:prstGeom prst="ellipse">
            <a:avLst/>
          </a:prstGeom>
          <a:solidFill>
            <a:srgbClr val="B1F24B">
              <a:alpha val="17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77664" y="2120122"/>
            <a:ext cx="74687" cy="74687"/>
          </a:xfrm>
          <a:prstGeom prst="ellipse">
            <a:avLst/>
          </a:prstGeom>
          <a:solidFill>
            <a:srgbClr val="B1F24B">
              <a:alpha val="19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907100" y="5663043"/>
            <a:ext cx="161442" cy="161442"/>
          </a:xfrm>
          <a:prstGeom prst="ellipse">
            <a:avLst/>
          </a:prstGeom>
          <a:solidFill>
            <a:srgbClr val="B1F24B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7187" y="4337304"/>
            <a:ext cx="93139" cy="93139"/>
          </a:xfrm>
          <a:prstGeom prst="ellipse">
            <a:avLst/>
          </a:prstGeom>
          <a:solidFill>
            <a:srgbClr val="B1F24B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343417" y="1884275"/>
            <a:ext cx="75198" cy="75198"/>
          </a:xfrm>
          <a:prstGeom prst="ellipse">
            <a:avLst/>
          </a:prstGeom>
          <a:solidFill>
            <a:srgbClr val="B1F24B">
              <a:alpha val="11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79237" y="2219958"/>
            <a:ext cx="155466" cy="155466"/>
          </a:xfrm>
          <a:prstGeom prst="ellipse">
            <a:avLst/>
          </a:prstGeom>
          <a:solidFill>
            <a:srgbClr val="B1F24B">
              <a:alpha val="14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561596" y="1210651"/>
            <a:ext cx="113190" cy="113190"/>
          </a:xfrm>
          <a:prstGeom prst="ellipse">
            <a:avLst/>
          </a:prstGeom>
          <a:solidFill>
            <a:srgbClr val="B1F24B">
              <a:alpha val="11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365267" y="2945955"/>
            <a:ext cx="98768" cy="98768"/>
          </a:xfrm>
          <a:prstGeom prst="ellipse">
            <a:avLst/>
          </a:prstGeom>
          <a:solidFill>
            <a:srgbClr val="B1F24B">
              <a:alpha val="21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1F24B"/>
          </a:solidFill>
          <a:ln/>
        </p:spPr>
      </p:sp>
      <p:sp>
        <p:nvSpPr>
          <p:cNvPr id="19" name="Shape 17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F6AD37">
              <a:alpha val="5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45720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Ask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685800" y="10515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DDD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Seed round to scale what already works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10515600" y="502920"/>
            <a:ext cx="1005840" cy="502920"/>
          </a:xfrm>
          <a:prstGeom prst="roundRect">
            <a:avLst>
              <a:gd name="adj" fmla="val 27273"/>
            </a:avLst>
          </a:prstGeom>
          <a:solidFill>
            <a:srgbClr val="1C6B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515600" y="50292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14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57200" y="1828800"/>
            <a:ext cx="5029200" cy="1463040"/>
          </a:xfrm>
          <a:prstGeom prst="roundRect">
            <a:avLst>
              <a:gd name="adj" fmla="val 15625"/>
            </a:avLst>
          </a:prstGeom>
          <a:solidFill>
            <a:srgbClr val="FFFFFF">
              <a:alpha val="90000"/>
            </a:srgbClr>
          </a:solidFill>
          <a:ln w="25400">
            <a:solidFill>
              <a:srgbClr val="B1F24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192024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$500K – $800K</a:t>
            </a:r>
            <a:endParaRPr lang="en-US" sz="4200" dirty="0"/>
          </a:p>
        </p:txBody>
      </p:sp>
      <p:sp>
        <p:nvSpPr>
          <p:cNvPr id="26" name="Text 24"/>
          <p:cNvSpPr/>
          <p:nvPr/>
        </p:nvSpPr>
        <p:spPr>
          <a:xfrm>
            <a:off x="457200" y="26974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1F2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SEED ROUND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578945" y="4576631"/>
            <a:ext cx="219456" cy="219456"/>
          </a:xfrm>
          <a:prstGeom prst="ellipse">
            <a:avLst/>
          </a:prstGeom>
          <a:solidFill>
            <a:srgbClr val="B1F2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53265" y="4558343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1F2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35%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816352" y="5821070"/>
            <a:ext cx="219456" cy="219456"/>
          </a:xfrm>
          <a:prstGeom prst="ellipse">
            <a:avLst/>
          </a:prstGeom>
          <a:solidFill>
            <a:srgbClr val="F6AD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090672" y="5802782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6AD3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30%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960474" y="4965192"/>
            <a:ext cx="219456" cy="219456"/>
          </a:xfrm>
          <a:prstGeom prst="ellipse">
            <a:avLst/>
          </a:prstGeom>
          <a:solidFill>
            <a:srgbClr val="4A9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234794" y="4946904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90D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20%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427791" y="4202599"/>
            <a:ext cx="219456" cy="219456"/>
          </a:xfrm>
          <a:prstGeom prst="ellipse">
            <a:avLst/>
          </a:prstGeom>
          <a:solidFill>
            <a:srgbClr val="8B5C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02111" y="4184311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5CF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15%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1737360" y="3886200"/>
            <a:ext cx="2377440" cy="2377440"/>
          </a:xfrm>
          <a:prstGeom prst="ellipse">
            <a:avLst/>
          </a:prstGeom>
          <a:solidFill>
            <a:srgbClr val="F5F7F2"/>
          </a:solidFill>
          <a:ln w="12700">
            <a:solidFill>
              <a:srgbClr val="DFE5D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912508" y="4453794"/>
            <a:ext cx="832104" cy="832104"/>
          </a:xfrm>
          <a:prstGeom prst="ellipse">
            <a:avLst/>
          </a:prstGeom>
          <a:solidFill>
            <a:srgbClr val="B1F24B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510028" y="5110582"/>
            <a:ext cx="832104" cy="832104"/>
          </a:xfrm>
          <a:prstGeom prst="ellipse">
            <a:avLst/>
          </a:prstGeom>
          <a:solidFill>
            <a:srgbClr val="F6AD37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058314" y="4658868"/>
            <a:ext cx="832104" cy="832104"/>
          </a:xfrm>
          <a:prstGeom prst="ellipse">
            <a:avLst/>
          </a:prstGeom>
          <a:solidFill>
            <a:srgbClr val="4A90D9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304954" y="4256388"/>
            <a:ext cx="832104" cy="832104"/>
          </a:xfrm>
          <a:prstGeom prst="ellipse">
            <a:avLst/>
          </a:prstGeom>
          <a:solidFill>
            <a:srgbClr val="8B5CF6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307946" y="4456786"/>
            <a:ext cx="1236269" cy="123626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760720" y="1828800"/>
            <a:ext cx="5760720" cy="219456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6350">
            <a:solidFill>
              <a:srgbClr val="DFE5D9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6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5760720" y="1828800"/>
            <a:ext cx="82296" cy="2194560"/>
          </a:xfrm>
          <a:prstGeom prst="roundRect">
            <a:avLst>
              <a:gd name="adj" fmla="val 44444"/>
            </a:avLst>
          </a:prstGeom>
          <a:solidFill>
            <a:srgbClr val="B1F2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989320" y="1965960"/>
            <a:ext cx="54132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B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Use of Funds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5989320" y="2331720"/>
            <a:ext cx="541324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6F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🟢 35% — Product + AI + Data (scanner ML, knowledge DB, vernacular voice)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6F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🟠 30% — Growth &amp; Brand (influencers, referrals, community seeding)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6F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🔵 20% — Supply Chain &amp; Ops (SKU expansion, 3PL, fulfillment)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6F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🟣 15% — Team &amp; Compliance (engineers, plant science, legal)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5760720" y="4206240"/>
            <a:ext cx="5760720" cy="2423160"/>
          </a:xfrm>
          <a:prstGeom prst="roundRect">
            <a:avLst>
              <a:gd name="adj" fmla="val 6792"/>
            </a:avLst>
          </a:prstGeom>
          <a:solidFill>
            <a:srgbClr val="FFFFFF"/>
          </a:solidFill>
          <a:ln w="6350">
            <a:solidFill>
              <a:srgbClr val="DFE5D9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6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5760720" y="4206240"/>
            <a:ext cx="82296" cy="2423160"/>
          </a:xfrm>
          <a:prstGeom prst="roundRect">
            <a:avLst>
              <a:gd name="adj" fmla="val 44444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989320" y="4343400"/>
            <a:ext cx="54132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B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Series A Milestones (12 months)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5989320" y="4709160"/>
            <a:ext cx="5413248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6F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📊 30K+ MAU                    📈 D30 retention &gt; 30%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6F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💰 Monthly GMV ₹25L+    🔄 Repeat orders &gt; 35%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6F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⭐ Subscription attach &gt; 5%  ⏱️ CAC payback &lt; 5 months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6F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👥 Community DAU/MAU &gt; 20%  🔬 25K+ diagnosis cases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85800" y="6492240"/>
            <a:ext cx="10058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Contact: thenurserygreen.com  •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F25"/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-2743200"/>
            <a:ext cx="7315200" cy="7315200"/>
          </a:xfrm>
          <a:prstGeom prst="ellipse">
            <a:avLst/>
          </a:prstGeom>
          <a:solidFill>
            <a:srgbClr val="1C6B44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-3657600"/>
            <a:ext cx="8229600" cy="8229600"/>
          </a:xfrm>
          <a:prstGeom prst="ellipse">
            <a:avLst/>
          </a:prstGeom>
          <a:solidFill>
            <a:srgbClr val="B1F24B">
              <a:alpha val="7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0" y="3657600"/>
            <a:ext cx="6400800" cy="6400800"/>
          </a:xfrm>
          <a:prstGeom prst="ellipse">
            <a:avLst/>
          </a:prstGeom>
          <a:solidFill>
            <a:srgbClr val="F6AD37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62636" y="3536375"/>
            <a:ext cx="105308" cy="105308"/>
          </a:xfrm>
          <a:prstGeom prst="ellipse">
            <a:avLst/>
          </a:prstGeom>
          <a:solidFill>
            <a:srgbClr val="B1F24B">
              <a:alpha val="1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853007" y="4200727"/>
            <a:ext cx="91680" cy="91680"/>
          </a:xfrm>
          <a:prstGeom prst="ellipse">
            <a:avLst/>
          </a:prstGeom>
          <a:solidFill>
            <a:srgbClr val="B1F24B">
              <a:alpha val="14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02263" y="2158192"/>
            <a:ext cx="151396" cy="151396"/>
          </a:xfrm>
          <a:prstGeom prst="ellipse">
            <a:avLst/>
          </a:prstGeom>
          <a:solidFill>
            <a:srgbClr val="B1F24B">
              <a:alpha val="1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800600" y="2277202"/>
            <a:ext cx="134184" cy="134184"/>
          </a:xfrm>
          <a:prstGeom prst="ellipse">
            <a:avLst/>
          </a:prstGeom>
          <a:solidFill>
            <a:srgbClr val="B1F24B">
              <a:alpha val="1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817042" y="4281835"/>
            <a:ext cx="128074" cy="128074"/>
          </a:xfrm>
          <a:prstGeom prst="ellipse">
            <a:avLst/>
          </a:prstGeom>
          <a:solidFill>
            <a:srgbClr val="B1F24B">
              <a:alpha val="11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486412" y="530938"/>
            <a:ext cx="155545" cy="155545"/>
          </a:xfrm>
          <a:prstGeom prst="ellipse">
            <a:avLst/>
          </a:prstGeom>
          <a:solidFill>
            <a:srgbClr val="B1F24B">
              <a:alpha val="17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48390" y="3466351"/>
            <a:ext cx="157969" cy="157969"/>
          </a:xfrm>
          <a:prstGeom prst="ellipse">
            <a:avLst/>
          </a:prstGeom>
          <a:solidFill>
            <a:srgbClr val="B1F24B">
              <a:alpha val="2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852114" y="3336345"/>
            <a:ext cx="143188" cy="143188"/>
          </a:xfrm>
          <a:prstGeom prst="ellipse">
            <a:avLst/>
          </a:prstGeom>
          <a:solidFill>
            <a:srgbClr val="B1F24B">
              <a:alpha val="2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80895" y="692829"/>
            <a:ext cx="81137" cy="81137"/>
          </a:xfrm>
          <a:prstGeom prst="ellipse">
            <a:avLst/>
          </a:prstGeom>
          <a:solidFill>
            <a:srgbClr val="B1F24B">
              <a:alpha val="19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060267" y="3701435"/>
            <a:ext cx="133794" cy="133794"/>
          </a:xfrm>
          <a:prstGeom prst="ellipse">
            <a:avLst/>
          </a:prstGeom>
          <a:solidFill>
            <a:srgbClr val="B1F24B">
              <a:alpha val="13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33729" y="2221132"/>
            <a:ext cx="91702" cy="91702"/>
          </a:xfrm>
          <a:prstGeom prst="ellipse">
            <a:avLst/>
          </a:prstGeom>
          <a:solidFill>
            <a:srgbClr val="B1F24B">
              <a:alpha val="13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050126" y="2706404"/>
            <a:ext cx="61228" cy="61228"/>
          </a:xfrm>
          <a:prstGeom prst="ellipse">
            <a:avLst/>
          </a:prstGeom>
          <a:solidFill>
            <a:srgbClr val="B1F24B">
              <a:alpha val="1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1F24B"/>
          </a:solidFill>
          <a:ln/>
        </p:spPr>
      </p:sp>
      <p:sp>
        <p:nvSpPr>
          <p:cNvPr id="19" name="Shape 17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F6AD37">
              <a:alpha val="5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 rot="-1500000">
            <a:off x="-1828800" y="914400"/>
            <a:ext cx="6400800" cy="10058400"/>
          </a:xfrm>
          <a:prstGeom prst="ellipse">
            <a:avLst/>
          </a:prstGeom>
          <a:solidFill>
            <a:srgbClr val="1C6B44">
              <a:alpha val="1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rot="900000">
            <a:off x="7315200" y="-1828800"/>
            <a:ext cx="7315200" cy="10972800"/>
          </a:xfrm>
          <a:prstGeom prst="ellipse">
            <a:avLst/>
          </a:prstGeom>
          <a:solidFill>
            <a:srgbClr val="B1F24B">
              <a:alpha val="10000"/>
            </a:srgbClr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22" name="Image 0" descr="E:\VS Code Projects\Website Nursery green\Image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0" y="1371600"/>
            <a:ext cx="1645920" cy="164592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457200" y="315468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NURSERY GREEN</a:t>
            </a:r>
            <a:endParaRPr lang="en-US" sz="4400" dirty="0"/>
          </a:p>
        </p:txBody>
      </p:sp>
      <p:sp>
        <p:nvSpPr>
          <p:cNvPr id="24" name="Shape 21"/>
          <p:cNvSpPr/>
          <p:nvPr/>
        </p:nvSpPr>
        <p:spPr>
          <a:xfrm>
            <a:off x="4572000" y="4023360"/>
            <a:ext cx="3017520" cy="54864"/>
          </a:xfrm>
          <a:prstGeom prst="rect">
            <a:avLst/>
          </a:prstGeom>
          <a:solidFill>
            <a:srgbClr val="B1F2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14400" y="425196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1F2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India's plant health + commerce platform.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B1F2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Built. Deployed. Ready to scale.</a:t>
            </a:r>
            <a:endParaRPr lang="en-US" sz="2000" dirty="0"/>
          </a:p>
        </p:txBody>
      </p:sp>
      <p:sp>
        <p:nvSpPr>
          <p:cNvPr id="26" name="Text 23"/>
          <p:cNvSpPr/>
          <p:nvPr/>
        </p:nvSpPr>
        <p:spPr>
          <a:xfrm>
            <a:off x="914400" y="530352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thenurserygreen.com</a:t>
            </a:r>
            <a:endParaRPr lang="en-US" sz="1800" dirty="0"/>
          </a:p>
        </p:txBody>
      </p:sp>
      <p:sp>
        <p:nvSpPr>
          <p:cNvPr id="27" name="Shape 24"/>
          <p:cNvSpPr/>
          <p:nvPr/>
        </p:nvSpPr>
        <p:spPr>
          <a:xfrm>
            <a:off x="1371600" y="5669280"/>
            <a:ext cx="1005840" cy="100584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B1F24B"/>
            </a:solidFill>
            <a:prstDash val="solid"/>
          </a:ln>
        </p:spPr>
      </p:sp>
      <p:pic>
        <p:nvPicPr>
          <p:cNvPr id="28" name="Image 1" descr="E:\VS Code Projects\Website Nursery green\Images\Plant Booster Spray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463040" y="5760720"/>
            <a:ext cx="822960" cy="822960"/>
          </a:xfrm>
          <a:prstGeom prst="rect">
            <a:avLst/>
          </a:prstGeom>
        </p:spPr>
      </p:pic>
      <p:sp>
        <p:nvSpPr>
          <p:cNvPr id="29" name="Shape 25"/>
          <p:cNvSpPr/>
          <p:nvPr/>
        </p:nvSpPr>
        <p:spPr>
          <a:xfrm>
            <a:off x="3383280" y="5669280"/>
            <a:ext cx="1005840" cy="100584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B1F24B"/>
            </a:solidFill>
            <a:prstDash val="solid"/>
          </a:ln>
        </p:spPr>
      </p:sp>
      <p:pic>
        <p:nvPicPr>
          <p:cNvPr id="30" name="Image 2" descr="E:\VS Code Projects\Website Nursery green\Images\Neem Oil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474720" y="5760720"/>
            <a:ext cx="822960" cy="822960"/>
          </a:xfrm>
          <a:prstGeom prst="rect">
            <a:avLst/>
          </a:prstGeom>
        </p:spPr>
      </p:pic>
      <p:sp>
        <p:nvSpPr>
          <p:cNvPr id="31" name="Shape 26"/>
          <p:cNvSpPr/>
          <p:nvPr/>
        </p:nvSpPr>
        <p:spPr>
          <a:xfrm>
            <a:off x="5394960" y="5669280"/>
            <a:ext cx="1005840" cy="100584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B1F24B"/>
            </a:solidFill>
            <a:prstDash val="solid"/>
          </a:ln>
        </p:spPr>
      </p:sp>
      <p:pic>
        <p:nvPicPr>
          <p:cNvPr id="32" name="Image 3" descr="E:\VS Code Projects\Website Nursery green\Images\Flower Mixture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486400" y="5760720"/>
            <a:ext cx="822960" cy="822960"/>
          </a:xfrm>
          <a:prstGeom prst="rect">
            <a:avLst/>
          </a:prstGeom>
        </p:spPr>
      </p:pic>
      <p:sp>
        <p:nvSpPr>
          <p:cNvPr id="33" name="Shape 27"/>
          <p:cNvSpPr/>
          <p:nvPr/>
        </p:nvSpPr>
        <p:spPr>
          <a:xfrm>
            <a:off x="7406640" y="5669280"/>
            <a:ext cx="1005840" cy="100584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B1F24B"/>
            </a:solidFill>
            <a:prstDash val="solid"/>
          </a:ln>
        </p:spPr>
      </p:sp>
      <p:pic>
        <p:nvPicPr>
          <p:cNvPr id="34" name="Image 4" descr="E:\VS Code Projects\Website Nursery green\Images\All in one mixture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7498080" y="5760720"/>
            <a:ext cx="822960" cy="822960"/>
          </a:xfrm>
          <a:prstGeom prst="rect">
            <a:avLst/>
          </a:prstGeom>
        </p:spPr>
      </p:pic>
      <p:sp>
        <p:nvSpPr>
          <p:cNvPr id="35" name="Shape 28"/>
          <p:cNvSpPr/>
          <p:nvPr/>
        </p:nvSpPr>
        <p:spPr>
          <a:xfrm>
            <a:off x="9418320" y="5669280"/>
            <a:ext cx="1005840" cy="100584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B1F24B"/>
            </a:solidFill>
            <a:prstDash val="solid"/>
          </a:ln>
        </p:spPr>
      </p:sp>
      <p:pic>
        <p:nvPicPr>
          <p:cNvPr id="36" name="Image 5" descr="E:\VS Code Projects\Website Nursery green\Images\Flower Booster Spray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9509760" y="5760720"/>
            <a:ext cx="822960" cy="822960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457200" y="6492240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 •  February 2026  •  Generated with Claude Opus 4.6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The Nursery Green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Deck — India (Feb 2026)</dc:title>
  <dc:subject>Plant Health + Commerce Platform</dc:subject>
  <dc:creator>The Nursery Green</dc:creator>
  <cp:lastModifiedBy>The Nursery Green</cp:lastModifiedBy>
  <cp:revision>1</cp:revision>
  <dcterms:created xsi:type="dcterms:W3CDTF">2026-02-26T07:17:35Z</dcterms:created>
  <dcterms:modified xsi:type="dcterms:W3CDTF">2026-02-26T07:17:35Z</dcterms:modified>
</cp:coreProperties>
</file>